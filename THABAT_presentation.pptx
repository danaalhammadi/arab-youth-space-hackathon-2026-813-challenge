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Title" id="{C75D429C-CFED-30C7-C5C1-F47A07A6BC7A}">
          <p14:sldIdLst>
            <p14:sldId id="267"/>
          </p14:sldIdLst>
        </p14:section>
        <p14:section name="2 Problem" id="{E0B292E5-E910-071B-0888-BF63D639E223}">
          <p14:sldIdLst>
            <p14:sldId id="257"/>
          </p14:sldIdLst>
        </p14:section>
        <p14:section name="3 Business use case" id="{0787ACBF-1CFB-6B17-8878-7F2B61000C35}">
          <p14:sldIdLst>
            <p14:sldId id="258"/>
          </p14:sldIdLst>
        </p14:section>
        <p14:section name="4 Data and hyperspectral" id="{4AA223F6-A90E-21E9-5AEB-A8C7682A493E}">
          <p14:sldIdLst>
            <p14:sldId id="259"/>
            <p14:sldId id="260"/>
          </p14:sldIdLst>
        </p14:section>
        <p14:section name="5 Approach" id="{41473041-4113-38EB-A22B-92FB5269DD48}">
          <p14:sldIdLst>
            <p14:sldId id="261"/>
          </p14:sldIdLst>
        </p14:section>
        <p14:section name="6 Example outputs" id="{6AA531DB-F780-DBC4-37A2-C98DB99B1477}">
          <p14:sldIdLst>
            <p14:sldId id="262"/>
            <p14:sldId id="263"/>
          </p14:sldIdLst>
        </p14:section>
        <p14:section name="7 Validation and limitations" id="{390D5E44-3B0F-4B6C-B9CE-A13F1C80A7F9}">
          <p14:sldIdLst>
            <p14:sldId id="264"/>
          </p14:sldIdLst>
        </p14:section>
        <p14:section name="8 Impact" id="{3FC2AC82-B05F-AC99-171F-3B2C3C456CAC}">
          <p14:sldIdLst>
            <p14:sldId id="265"/>
          </p14:sldIdLst>
        </p14:section>
        <p14:section name="9 Next steps" id="{A8320B9D-0C85-3486-C2AC-3359E30E0B1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6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3B45"/>
                </a:solidFill>
                <a:latin typeface="+mn-lt"/>
              </a:defRPr>
            </a:pPr>
            <a:r>
              <a:rPr lang="en-GB" sz="1200" b="0" i="0" u="none" strike="noStrike">
                <a:solidFill>
                  <a:srgbClr val="0D3B45"/>
                </a:solidFill>
                <a:latin typeface="+mn-lt"/>
              </a:rPr>
              <a:t>AOI-A median LST, °C — sand = higher priority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LST (°C)</c:v>
                </c:pt>
              </c:strCache>
            </c:strRef>
          </c:tx>
          <c:spPr>
            <a:solidFill>
              <a:srgbClr val="D4B48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73-4AC1-8377-5133A82C0CC0}"/>
              </c:ext>
            </c:extLst>
          </c:dPt>
          <c:dPt>
            <c:idx val="1"/>
            <c:invertIfNegative val="0"/>
            <c:bubble3D val="0"/>
            <c:spPr>
              <a:solidFill>
                <a:srgbClr val="2E6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73-4AC1-8377-5133A82C0CC0}"/>
              </c:ext>
            </c:extLst>
          </c:dPt>
          <c:dPt>
            <c:idx val="2"/>
            <c:invertIfNegative val="0"/>
            <c:bubble3D val="0"/>
            <c:spPr>
              <a:solidFill>
                <a:srgbClr val="2E6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73-4AC1-8377-5133A82C0CC0}"/>
              </c:ext>
            </c:extLst>
          </c:dPt>
          <c:dPt>
            <c:idx val="3"/>
            <c:invertIfNegative val="0"/>
            <c:bubble3D val="0"/>
            <c:spPr>
              <a:solidFill>
                <a:srgbClr val="2E6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73-4AC1-8377-5133A82C0CC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F73-4AC1-8377-5133A82C0CC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1E1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A-001</c:v>
                </c:pt>
                <c:pt idx="1">
                  <c:v>A-002</c:v>
                </c:pt>
                <c:pt idx="2">
                  <c:v>A-003</c:v>
                </c:pt>
                <c:pt idx="3">
                  <c:v>A-004</c:v>
                </c:pt>
                <c:pt idx="4">
                  <c:v>A-005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54.601999999999997</c:v>
                </c:pt>
                <c:pt idx="1">
                  <c:v>54.197000000000003</c:v>
                </c:pt>
                <c:pt idx="2">
                  <c:v>54.034999999999997</c:v>
                </c:pt>
                <c:pt idx="3">
                  <c:v>54.232999999999997</c:v>
                </c:pt>
                <c:pt idx="4">
                  <c:v>55.606999999999999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F73-4AC1-8377-5133A82C0C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3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"/>
          <c:min val="52"/>
        </c:scaling>
        <c:delete val="0"/>
        <c:axPos val="l"/>
        <c:majorGridlines>
          <c:spPr>
            <a:ln w="6350" cap="flat">
              <a:solidFill>
                <a:srgbClr val="E8DF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3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32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Title. Insert the THABAT logo, team name and hackathon theme in the marked placeholders. One-liner: THABAT screens road segments using Earth-observation evidence to help teams decide where to inspect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9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Authorities cannot physically inspect every segment frequently, and environmental stress varies across locations. We do not claim exposure equals damage; the problem is prioritisation under limited inspection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user: asset-management teams. Decision: where to inspect first. THABAT is a screening layer that ranks segments for physical inspection; it does not certify condition or replace engineering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source and its honest role. Landsat thermal is broad contextual evidence. Sentinel-2 provides context but cannot resolve fine pavement defects. Hyperspectral coverage over AOI-A is not confirmed. VHR only if legally usable. Rainfall is a next-step input and is not integrated in the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Multispectral instruments sample a few broad bands, which can average out narrow spectral features. Hyperspectral samples many narrow bands. The graphic is a schematic, not data. Our claim is limited: hyperspectral can flag unusual spectral behaviour that may justify inspection. It does not detect pavement damage. EnMAP and Tanager were investigated; coverage of AOI-A is not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implemented steps are shown as solid cards; future layers are dashed. Method from notebook 02_main_analysis.ipynb: Kelvin = DN x 0.00341802 + 149.0, degC = Kelvin - 273.15, DN = 0 treated as nodata. Score = max(z_median,0) + max(z_range,0). Support thresholds (30+ / 10-29 / &lt;10 valid pixels) are reporting thresholds for transparency, not a calibrated confidence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slide. Replace the placeholder with the AOI-A thermal map (Landsat_ST_AOI_Clip.tif, or the figure regenerated from 02_main_analysis.ipynb). Do not use the old summary PNGs: their scoring logic has changed. Scene: LC09_L2SP_160043_20260831_02_T1, 31 Aug 2026, 0% reported cloud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values from the supplied segment statistics. Screening priority = max(z_median,0) + max(z_range,0); A-001 and A-005 flag higher. AOI-B has only 2-3 valid pixels per segment, so it is shown for transparency and is not equivalent evidence. Sentinel-2 wording: no obvious visual change in the tested comparison, never no deterioration. Regenerate the CSV and figures from the final notebook so deck and repo match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Left: what was actually checked. Right: limitations, each framed as what THABAT is designed to do next. AOI-B is shown honestly as low support. Sentinel-2 showed no obvious visual change in the tested views, so we make no deterioration claim. Physical inspection remains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qualitative. We do not state financial savings or percentage gains because none are verified. Value comes from scalable screening feeding better-targeted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working PoC now; then better pavement representation, rainfall and other environmental inputs, field validation, and more roads; ultimately an operational dashboard. Incubation would add corridors, larger datasets, automated ingestion, stronger validation and deployment with road authorities.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BAT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BAT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THABAT  ·  AI-POWERED ROAD RESILIENCE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548640" y="2057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>
                <a:solidFill>
                  <a:schemeClr val="tx2"/>
                </a:solidFill>
              </a:rPr>
              <a:t>THABAT</a:t>
            </a:r>
            <a:endParaRPr lang="en-US" sz="8800"/>
          </a:p>
        </p:txBody>
      </p:sp>
      <p:sp>
        <p:nvSpPr>
          <p:cNvPr id="6" name="Subtitle"/>
          <p:cNvSpPr txBox="1"/>
          <p:nvPr/>
        </p:nvSpPr>
        <p:spPr>
          <a:xfrm>
            <a:off x="54864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300">
                <a:solidFill>
                  <a:schemeClr val="accent1"/>
                </a:solidFill>
              </a:rPr>
              <a:t>SATELLITE-BASED ROAD RESILIENCE</a:t>
            </a:r>
            <a:endParaRPr lang="en-US" sz="2200"/>
          </a:p>
        </p:txBody>
      </p:sp>
      <p:sp>
        <p:nvSpPr>
          <p:cNvPr id="7" name="Descriptor"/>
          <p:cNvSpPr txBox="1"/>
          <p:nvPr/>
        </p:nvSpPr>
        <p:spPr>
          <a:xfrm>
            <a:off x="548640" y="4069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Satellite-based environmental screening and inspection prioritisation for UAE road corridors</a:t>
            </a:r>
            <a:endParaRPr lang="en-US" sz="1800"/>
          </a:p>
        </p:txBody>
      </p:sp>
      <p:sp>
        <p:nvSpPr>
          <p:cNvPr id="8" name="Team and theme"/>
          <p:cNvSpPr txBox="1"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>
                <a:solidFill>
                  <a:schemeClr val="tx2"/>
                </a:solidFill>
              </a:rPr>
              <a:t>Team: </a:t>
            </a:r>
            <a:r>
              <a:rPr lang="en-US" sz="1400" b="1" err="1"/>
              <a:t>Thabat</a:t>
            </a:r>
            <a:r>
              <a:rPr lang="en-US" sz="1400" b="1"/>
              <a:t> Team</a:t>
            </a:r>
          </a:p>
          <a:p>
            <a:pPr>
              <a:spcAft>
                <a:spcPts val="400"/>
              </a:spcAft>
            </a:pPr>
            <a:r>
              <a:rPr lang="en-US" sz="1400" b="1">
                <a:solidFill>
                  <a:schemeClr val="tx2"/>
                </a:solidFill>
              </a:rPr>
              <a:t>Theme 5: Sustainable Urban Planning and Smart Cities</a:t>
            </a:r>
          </a:p>
          <a:p>
            <a:pPr>
              <a:spcAft>
                <a:spcPts val="400"/>
              </a:spcAft>
            </a:pPr>
            <a:r>
              <a:rPr lang="en-US" sz="1400" b="1">
                <a:solidFill>
                  <a:schemeClr val="tx2"/>
                </a:solidFill>
              </a:rPr>
              <a:t>Country: United Arab Emirates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B5082C-0A8E-FE4C-4428-A3A48A69CA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51" r="18472" b="23477"/>
          <a:stretch>
            <a:fillRect/>
          </a:stretch>
        </p:blipFill>
        <p:spPr>
          <a:xfrm>
            <a:off x="7010400" y="1482864"/>
            <a:ext cx="3860800" cy="372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5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02 · THE PROBLEM AND WHO IS AFFECTED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Road health is monitored reactively</a:t>
            </a:r>
            <a:endParaRPr lang="en-US" sz="3200" dirty="0"/>
          </a:p>
        </p:txBody>
      </p:sp>
      <p:sp>
        <p:nvSpPr>
          <p:cNvPr id="4" name="Chain step 1"/>
          <p:cNvSpPr/>
          <p:nvPr/>
        </p:nvSpPr>
        <p:spPr>
          <a:xfrm>
            <a:off x="548640" y="1600200"/>
            <a:ext cx="5760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Chain title 1"/>
          <p:cNvSpPr txBox="1"/>
          <p:nvPr/>
        </p:nvSpPr>
        <p:spPr>
          <a:xfrm>
            <a:off x="777240" y="168249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Environmental exposure</a:t>
            </a:r>
            <a:endParaRPr lang="en-US" sz="1800" dirty="0"/>
          </a:p>
        </p:txBody>
      </p:sp>
      <p:sp>
        <p:nvSpPr>
          <p:cNvPr id="6" name="Chain sub 1"/>
          <p:cNvSpPr txBox="1"/>
          <p:nvPr/>
        </p:nvSpPr>
        <p:spPr>
          <a:xfrm>
            <a:off x="777240" y="19933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Heat, rainfall, surface conditions</a:t>
            </a:r>
            <a:endParaRPr lang="en-US" sz="1200" dirty="0"/>
          </a:p>
        </p:txBody>
      </p:sp>
      <p:sp>
        <p:nvSpPr>
          <p:cNvPr id="7" name="Chain arrow"/>
          <p:cNvSpPr/>
          <p:nvPr/>
        </p:nvSpPr>
        <p:spPr>
          <a:xfrm>
            <a:off x="3291840" y="2313432"/>
            <a:ext cx="274320" cy="16459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Chain step 2"/>
          <p:cNvSpPr/>
          <p:nvPr/>
        </p:nvSpPr>
        <p:spPr>
          <a:xfrm>
            <a:off x="548640" y="2496312"/>
            <a:ext cx="5760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Chain title 2"/>
          <p:cNvSpPr txBox="1"/>
          <p:nvPr/>
        </p:nvSpPr>
        <p:spPr>
          <a:xfrm>
            <a:off x="777240" y="25786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Potential road stress</a:t>
            </a:r>
            <a:endParaRPr lang="en-US" sz="1800" dirty="0"/>
          </a:p>
        </p:txBody>
      </p:sp>
      <p:sp>
        <p:nvSpPr>
          <p:cNvPr id="10" name="Chain sub 2"/>
          <p:cNvSpPr txBox="1"/>
          <p:nvPr/>
        </p:nvSpPr>
        <p:spPr>
          <a:xfrm>
            <a:off x="777240" y="28895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Varies across roads and locations — not proof of damage</a:t>
            </a:r>
            <a:endParaRPr lang="en-US" sz="1200" dirty="0"/>
          </a:p>
        </p:txBody>
      </p:sp>
      <p:sp>
        <p:nvSpPr>
          <p:cNvPr id="11" name="Chain arrow"/>
          <p:cNvSpPr/>
          <p:nvPr/>
        </p:nvSpPr>
        <p:spPr>
          <a:xfrm>
            <a:off x="3291840" y="3209544"/>
            <a:ext cx="274320" cy="16459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Chain step 3"/>
          <p:cNvSpPr/>
          <p:nvPr/>
        </p:nvSpPr>
        <p:spPr>
          <a:xfrm>
            <a:off x="548640" y="3392424"/>
            <a:ext cx="5760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Chain title 3"/>
          <p:cNvSpPr txBox="1"/>
          <p:nvPr/>
        </p:nvSpPr>
        <p:spPr>
          <a:xfrm>
            <a:off x="777240" y="34747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Large road network</a:t>
            </a:r>
            <a:endParaRPr lang="en-US" sz="1800" dirty="0"/>
          </a:p>
        </p:txBody>
      </p:sp>
      <p:sp>
        <p:nvSpPr>
          <p:cNvPr id="14" name="Chain sub 3"/>
          <p:cNvSpPr txBox="1"/>
          <p:nvPr/>
        </p:nvSpPr>
        <p:spPr>
          <a:xfrm>
            <a:off x="777240" y="378561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Too many segments to inspect often</a:t>
            </a:r>
            <a:endParaRPr lang="en-US" sz="1200" dirty="0"/>
          </a:p>
        </p:txBody>
      </p:sp>
      <p:sp>
        <p:nvSpPr>
          <p:cNvPr id="15" name="Chain arrow"/>
          <p:cNvSpPr/>
          <p:nvPr/>
        </p:nvSpPr>
        <p:spPr>
          <a:xfrm>
            <a:off x="3291840" y="4105656"/>
            <a:ext cx="274320" cy="16459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Chain step 4"/>
          <p:cNvSpPr/>
          <p:nvPr/>
        </p:nvSpPr>
        <p:spPr>
          <a:xfrm>
            <a:off x="548640" y="4288536"/>
            <a:ext cx="5760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Chain title 4"/>
          <p:cNvSpPr txBox="1"/>
          <p:nvPr/>
        </p:nvSpPr>
        <p:spPr>
          <a:xfrm>
            <a:off x="777240" y="43708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Limited inspection resources</a:t>
            </a:r>
            <a:endParaRPr lang="en-US" sz="1800" dirty="0"/>
          </a:p>
        </p:txBody>
      </p:sp>
      <p:sp>
        <p:nvSpPr>
          <p:cNvPr id="18" name="Chain sub 4"/>
          <p:cNvSpPr txBox="1"/>
          <p:nvPr/>
        </p:nvSpPr>
        <p:spPr>
          <a:xfrm>
            <a:off x="777240" y="46817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Teams and time are finite</a:t>
            </a:r>
            <a:endParaRPr lang="en-US" sz="1200" dirty="0"/>
          </a:p>
        </p:txBody>
      </p:sp>
      <p:sp>
        <p:nvSpPr>
          <p:cNvPr id="19" name="Chain arrow"/>
          <p:cNvSpPr/>
          <p:nvPr/>
        </p:nvSpPr>
        <p:spPr>
          <a:xfrm>
            <a:off x="3291840" y="5001768"/>
            <a:ext cx="274320" cy="16459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Chain step 5"/>
          <p:cNvSpPr/>
          <p:nvPr/>
        </p:nvSpPr>
        <p:spPr>
          <a:xfrm>
            <a:off x="548640" y="5184648"/>
            <a:ext cx="5760720" cy="694944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hain title 5"/>
          <p:cNvSpPr txBox="1"/>
          <p:nvPr/>
        </p:nvSpPr>
        <p:spPr>
          <a:xfrm>
            <a:off x="777240" y="526694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Need to prioritise inspections</a:t>
            </a:r>
            <a:endParaRPr lang="en-US" sz="1800" dirty="0"/>
          </a:p>
        </p:txBody>
      </p:sp>
      <p:sp>
        <p:nvSpPr>
          <p:cNvPr id="22" name="Chain sub 5"/>
          <p:cNvSpPr txBox="1"/>
          <p:nvPr/>
        </p:nvSpPr>
        <p:spPr>
          <a:xfrm>
            <a:off x="777240" y="55778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Where should we look first?</a:t>
            </a:r>
            <a:endParaRPr lang="en-US" sz="1200" dirty="0"/>
          </a:p>
        </p:txBody>
      </p:sp>
      <p:sp>
        <p:nvSpPr>
          <p:cNvPr id="23" name="Affected label"/>
          <p:cNvSpPr txBox="1"/>
          <p:nvPr/>
        </p:nvSpPr>
        <p:spPr>
          <a:xfrm>
            <a:off x="685800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WHO IS AFFECTED</a:t>
            </a:r>
            <a:endParaRPr lang="en-US" sz="1200" dirty="0"/>
          </a:p>
        </p:txBody>
      </p:sp>
      <p:sp>
        <p:nvSpPr>
          <p:cNvPr id="24" name="Number bubble"/>
          <p:cNvSpPr/>
          <p:nvPr/>
        </p:nvSpPr>
        <p:spPr>
          <a:xfrm>
            <a:off x="6858000" y="20574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Number"/>
          <p:cNvSpPr txBox="1"/>
          <p:nvPr/>
        </p:nvSpPr>
        <p:spPr>
          <a:xfrm>
            <a:off x="685800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Affected name"/>
          <p:cNvSpPr txBox="1"/>
          <p:nvPr/>
        </p:nvSpPr>
        <p:spPr>
          <a:xfrm>
            <a:off x="740664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Road authorities</a:t>
            </a:r>
            <a:endParaRPr lang="en-US" sz="1600" dirty="0"/>
          </a:p>
        </p:txBody>
      </p:sp>
      <p:sp>
        <p:nvSpPr>
          <p:cNvPr id="27" name="Affected sub"/>
          <p:cNvSpPr txBox="1"/>
          <p:nvPr/>
        </p:nvSpPr>
        <p:spPr>
          <a:xfrm>
            <a:off x="7406640" y="22585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Responsible for network condition</a:t>
            </a:r>
            <a:endParaRPr lang="en-US" sz="1200" dirty="0"/>
          </a:p>
        </p:txBody>
      </p:sp>
      <p:sp>
        <p:nvSpPr>
          <p:cNvPr id="28" name="Number bubble"/>
          <p:cNvSpPr/>
          <p:nvPr/>
        </p:nvSpPr>
        <p:spPr>
          <a:xfrm>
            <a:off x="6858000" y="27157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Number"/>
          <p:cNvSpPr txBox="1"/>
          <p:nvPr/>
        </p:nvSpPr>
        <p:spPr>
          <a:xfrm>
            <a:off x="68580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Affected name"/>
          <p:cNvSpPr txBox="1"/>
          <p:nvPr/>
        </p:nvSpPr>
        <p:spPr>
          <a:xfrm>
            <a:off x="7406640" y="2642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Infrastructure / asset managers</a:t>
            </a:r>
            <a:endParaRPr lang="en-US" sz="1600" dirty="0"/>
          </a:p>
        </p:txBody>
      </p:sp>
      <p:sp>
        <p:nvSpPr>
          <p:cNvPr id="31" name="Affected sub"/>
          <p:cNvSpPr txBox="1"/>
          <p:nvPr/>
        </p:nvSpPr>
        <p:spPr>
          <a:xfrm>
            <a:off x="7406640" y="29169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Decide where effort goes</a:t>
            </a:r>
            <a:endParaRPr lang="en-US" sz="1200" dirty="0"/>
          </a:p>
        </p:txBody>
      </p:sp>
      <p:sp>
        <p:nvSpPr>
          <p:cNvPr id="32" name="Number bubble"/>
          <p:cNvSpPr/>
          <p:nvPr/>
        </p:nvSpPr>
        <p:spPr>
          <a:xfrm>
            <a:off x="6858000" y="337413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Number"/>
          <p:cNvSpPr txBox="1"/>
          <p:nvPr/>
        </p:nvSpPr>
        <p:spPr>
          <a:xfrm>
            <a:off x="685800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Affected name"/>
          <p:cNvSpPr txBox="1"/>
          <p:nvPr/>
        </p:nvSpPr>
        <p:spPr>
          <a:xfrm>
            <a:off x="7406640" y="3300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Maintenance teams</a:t>
            </a:r>
            <a:endParaRPr lang="en-US" sz="1600" dirty="0"/>
          </a:p>
        </p:txBody>
      </p:sp>
      <p:sp>
        <p:nvSpPr>
          <p:cNvPr id="35" name="Affected sub"/>
          <p:cNvSpPr txBox="1"/>
          <p:nvPr/>
        </p:nvSpPr>
        <p:spPr>
          <a:xfrm>
            <a:off x="7406640" y="35753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Act on what gets flagged</a:t>
            </a:r>
            <a:endParaRPr lang="en-US" sz="1200" dirty="0"/>
          </a:p>
        </p:txBody>
      </p:sp>
      <p:sp>
        <p:nvSpPr>
          <p:cNvPr id="36" name="Number bubble"/>
          <p:cNvSpPr/>
          <p:nvPr/>
        </p:nvSpPr>
        <p:spPr>
          <a:xfrm>
            <a:off x="6858000" y="403250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Number"/>
          <p:cNvSpPr txBox="1"/>
          <p:nvPr/>
        </p:nvSpPr>
        <p:spPr>
          <a:xfrm>
            <a:off x="685800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Affected name"/>
          <p:cNvSpPr txBox="1"/>
          <p:nvPr/>
        </p:nvSpPr>
        <p:spPr>
          <a:xfrm>
            <a:off x="7406640" y="3959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Inspectors</a:t>
            </a:r>
            <a:endParaRPr lang="en-US" sz="1600" dirty="0"/>
          </a:p>
        </p:txBody>
      </p:sp>
      <p:sp>
        <p:nvSpPr>
          <p:cNvPr id="39" name="Affected sub"/>
          <p:cNvSpPr txBox="1"/>
          <p:nvPr/>
        </p:nvSpPr>
        <p:spPr>
          <a:xfrm>
            <a:off x="7406640" y="4233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Cannot be everywhere at once</a:t>
            </a:r>
            <a:endParaRPr lang="en-US" sz="1200" dirty="0"/>
          </a:p>
        </p:txBody>
      </p:sp>
      <p:sp>
        <p:nvSpPr>
          <p:cNvPr id="40" name="Number bubble"/>
          <p:cNvSpPr/>
          <p:nvPr/>
        </p:nvSpPr>
        <p:spPr>
          <a:xfrm>
            <a:off x="6858000" y="46908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Number"/>
          <p:cNvSpPr txBox="1"/>
          <p:nvPr/>
        </p:nvSpPr>
        <p:spPr>
          <a:xfrm>
            <a:off x="685800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Affected name"/>
          <p:cNvSpPr txBox="1"/>
          <p:nvPr/>
        </p:nvSpPr>
        <p:spPr>
          <a:xfrm>
            <a:off x="740664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Road users</a:t>
            </a:r>
            <a:endParaRPr lang="en-US" sz="1600" dirty="0"/>
          </a:p>
        </p:txBody>
      </p:sp>
      <p:sp>
        <p:nvSpPr>
          <p:cNvPr id="43" name="Affected sub"/>
          <p:cNvSpPr txBox="1"/>
          <p:nvPr/>
        </p:nvSpPr>
        <p:spPr>
          <a:xfrm>
            <a:off x="7406640" y="48920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Ultimately feel the outcome</a:t>
            </a:r>
            <a:endParaRPr lang="en-US" sz="1200" dirty="0"/>
          </a:p>
        </p:txBody>
      </p:sp>
      <p:sp>
        <p:nvSpPr>
          <p:cNvPr id="44" name="Caveat card"/>
          <p:cNvSpPr/>
          <p:nvPr/>
        </p:nvSpPr>
        <p:spPr>
          <a:xfrm>
            <a:off x="6858000" y="5349240"/>
            <a:ext cx="4782312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Caveat text"/>
          <p:cNvSpPr txBox="1"/>
          <p:nvPr/>
        </p:nvSpPr>
        <p:spPr>
          <a:xfrm>
            <a:off x="7086600" y="53492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Exposure ≠ damage. </a:t>
            </a:r>
            <a:r>
              <a:rPr lang="en-US" sz="1400" dirty="0">
                <a:solidFill>
                  <a:schemeClr val="tx1"/>
                </a:solidFill>
              </a:rPr>
              <a:t>Environmental stress is a reason to look — not proof of failure.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03 · BUSINESS USE CASE AND END USER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satellite evidence to inspection priority</a:t>
            </a:r>
            <a:endParaRPr lang="en-US" sz="3200" dirty="0"/>
          </a:p>
        </p:txBody>
      </p:sp>
      <p:sp>
        <p:nvSpPr>
          <p:cNvPr id="4" name="End user card"/>
          <p:cNvSpPr/>
          <p:nvPr/>
        </p:nvSpPr>
        <p:spPr>
          <a:xfrm>
            <a:off x="548640" y="1600200"/>
            <a:ext cx="365760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End user label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END USER</a:t>
            </a:r>
            <a:endParaRPr lang="en-US" sz="1200" dirty="0"/>
          </a:p>
        </p:txBody>
      </p:sp>
      <p:sp>
        <p:nvSpPr>
          <p:cNvPr id="6" name="End user"/>
          <p:cNvSpPr txBox="1"/>
          <p:nvPr/>
        </p:nvSpPr>
        <p:spPr>
          <a:xfrm>
            <a:off x="822960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Road / infrastructure asset-management teams</a:t>
            </a:r>
            <a:endParaRPr lang="en-US" sz="1800" dirty="0"/>
          </a:p>
        </p:txBody>
      </p:sp>
      <p:sp>
        <p:nvSpPr>
          <p:cNvPr id="7" name="Decision label"/>
          <p:cNvSpPr txBox="1"/>
          <p:nvPr/>
        </p:nvSpPr>
        <p:spPr>
          <a:xfrm>
            <a:off x="82296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DECISION</a:t>
            </a:r>
            <a:endParaRPr lang="en-US" sz="1200" dirty="0"/>
          </a:p>
        </p:txBody>
      </p:sp>
      <p:sp>
        <p:nvSpPr>
          <p:cNvPr id="8" name="Decision question"/>
          <p:cNvSpPr txBox="1"/>
          <p:nvPr/>
        </p:nvSpPr>
        <p:spPr>
          <a:xfrm>
            <a:off x="822960" y="3429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/>
                </a:solidFill>
              </a:rPr>
              <a:t>“Where should we inspect first?”</a:t>
            </a:r>
            <a:endParaRPr lang="en-US" sz="2400" dirty="0"/>
          </a:p>
        </p:txBody>
      </p:sp>
      <p:sp>
        <p:nvSpPr>
          <p:cNvPr id="9" name="Today card"/>
          <p:cNvSpPr/>
          <p:nvPr/>
        </p:nvSpPr>
        <p:spPr>
          <a:xfrm>
            <a:off x="443484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oday label"/>
          <p:cNvSpPr txBox="1"/>
          <p:nvPr/>
        </p:nvSpPr>
        <p:spPr>
          <a:xfrm>
            <a:off x="47091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TODAY</a:t>
            </a:r>
            <a:endParaRPr lang="en-US" sz="1200" dirty="0"/>
          </a:p>
        </p:txBody>
      </p:sp>
      <p:sp>
        <p:nvSpPr>
          <p:cNvPr id="11" name="Today headline"/>
          <p:cNvSpPr txBox="1"/>
          <p:nvPr/>
        </p:nvSpPr>
        <p:spPr>
          <a:xfrm>
            <a:off x="4709160" y="2194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Inspect broadly and react to problems</a:t>
            </a:r>
            <a:endParaRPr lang="en-US" sz="2200" dirty="0"/>
          </a:p>
        </p:txBody>
      </p:sp>
      <p:sp>
        <p:nvSpPr>
          <p:cNvPr id="12" name="Today sub"/>
          <p:cNvSpPr txBox="1"/>
          <p:nvPr/>
        </p:nvSpPr>
        <p:spPr>
          <a:xfrm>
            <a:off x="47091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Little visibility of where environmental stress is concentrated</a:t>
            </a:r>
            <a:endParaRPr lang="en-US" sz="1400" dirty="0"/>
          </a:p>
        </p:txBody>
      </p:sp>
      <p:sp>
        <p:nvSpPr>
          <p:cNvPr id="13" name="THABAT card"/>
          <p:cNvSpPr/>
          <p:nvPr/>
        </p:nvSpPr>
        <p:spPr>
          <a:xfrm>
            <a:off x="8046720" y="1600200"/>
            <a:ext cx="3593592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HABAT label"/>
          <p:cNvSpPr txBox="1"/>
          <p:nvPr/>
        </p:nvSpPr>
        <p:spPr>
          <a:xfrm>
            <a:off x="83210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THABAT</a:t>
            </a:r>
            <a:endParaRPr lang="en-US" sz="1200" dirty="0"/>
          </a:p>
        </p:txBody>
      </p:sp>
      <p:sp>
        <p:nvSpPr>
          <p:cNvPr id="15" name="THABAT headline"/>
          <p:cNvSpPr txBox="1"/>
          <p:nvPr/>
        </p:nvSpPr>
        <p:spPr>
          <a:xfrm>
            <a:off x="832104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Screen → rank → inspect priority segments</a:t>
            </a:r>
            <a:endParaRPr lang="en-US" sz="2200" dirty="0"/>
          </a:p>
        </p:txBody>
      </p:sp>
      <p:sp>
        <p:nvSpPr>
          <p:cNvPr id="16" name="THABAT sub"/>
          <p:cNvSpPr txBox="1"/>
          <p:nvPr/>
        </p:nvSpPr>
        <p:spPr>
          <a:xfrm>
            <a:off x="83210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ranked, explainable inspection queue — not an engineering verdict</a:t>
            </a:r>
            <a:endParaRPr lang="en-US" sz="1400" dirty="0"/>
          </a:p>
        </p:txBody>
      </p:sp>
      <p:sp>
        <p:nvSpPr>
          <p:cNvPr id="17" name="Flow chip 1"/>
          <p:cNvSpPr/>
          <p:nvPr/>
        </p:nvSpPr>
        <p:spPr>
          <a:xfrm>
            <a:off x="548640" y="493776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Flow label 1"/>
          <p:cNvSpPr txBox="1"/>
          <p:nvPr/>
        </p:nvSpPr>
        <p:spPr>
          <a:xfrm>
            <a:off x="548640" y="4937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Satellite data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3090672" y="5138928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Flow chip 2"/>
          <p:cNvSpPr/>
          <p:nvPr/>
        </p:nvSpPr>
        <p:spPr>
          <a:xfrm>
            <a:off x="3422874" y="493776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Flow label 2"/>
          <p:cNvSpPr txBox="1"/>
          <p:nvPr/>
        </p:nvSpPr>
        <p:spPr>
          <a:xfrm>
            <a:off x="3422874" y="4937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Environmental evidence</a:t>
            </a:r>
            <a:endParaRPr lang="en-US" sz="1600" dirty="0"/>
          </a:p>
        </p:txBody>
      </p:sp>
      <p:sp>
        <p:nvSpPr>
          <p:cNvPr id="22" name="Arrow"/>
          <p:cNvSpPr/>
          <p:nvPr/>
        </p:nvSpPr>
        <p:spPr>
          <a:xfrm>
            <a:off x="5964906" y="5138928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Flow chip 3"/>
          <p:cNvSpPr/>
          <p:nvPr/>
        </p:nvSpPr>
        <p:spPr>
          <a:xfrm>
            <a:off x="6297107" y="493776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Flow label 3"/>
          <p:cNvSpPr txBox="1"/>
          <p:nvPr/>
        </p:nvSpPr>
        <p:spPr>
          <a:xfrm>
            <a:off x="6297107" y="4937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Road-segment scoring</a:t>
            </a:r>
            <a:endParaRPr lang="en-US" sz="1600" dirty="0"/>
          </a:p>
        </p:txBody>
      </p:sp>
      <p:sp>
        <p:nvSpPr>
          <p:cNvPr id="25" name="Arrow"/>
          <p:cNvSpPr/>
          <p:nvPr/>
        </p:nvSpPr>
        <p:spPr>
          <a:xfrm>
            <a:off x="8839139" y="5138928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Flow chip 4"/>
          <p:cNvSpPr/>
          <p:nvPr/>
        </p:nvSpPr>
        <p:spPr>
          <a:xfrm>
            <a:off x="9171341" y="493776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Flow label 4"/>
          <p:cNvSpPr txBox="1"/>
          <p:nvPr/>
        </p:nvSpPr>
        <p:spPr>
          <a:xfrm>
            <a:off x="9171341" y="4937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Inspection priority</a:t>
            </a:r>
            <a:endParaRPr lang="en-US" sz="1600" dirty="0"/>
          </a:p>
        </p:txBody>
      </p:sp>
      <p:sp>
        <p:nvSpPr>
          <p:cNvPr id="28" name="Scope statement"/>
          <p:cNvSpPr txBox="1"/>
          <p:nvPr/>
        </p:nvSpPr>
        <p:spPr>
          <a:xfrm>
            <a:off x="548640" y="5852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THABAT is a screening and prioritisation layer — not an engineering replacement.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04 · DATA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Multi-source Earth observation for road resilience</a:t>
            </a:r>
            <a:endParaRPr lang="en-US" sz="3200" dirty="0"/>
          </a:p>
        </p:txBody>
      </p:sp>
      <p:graphicFrame>
        <p:nvGraphicFramePr>
          <p:cNvPr id="5" name="Data sour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3342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Resolution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contributes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Role in THABAT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Landsat 9 C2 L2 surface temperature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~100 m thermal (30 m product)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Segment thermal statistics, AOI-A and AOI-B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Thermal screening evidence; not pavement proof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Used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Sentinel-2 L2A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10–20 m multispectral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 Sep vs 4 Oct 2026 comparison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Context; cannot resolve fine defects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Used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Hyperspectral (EnMAP / Tanager)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~30 m, ~230 bands (EnMAP)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Spectral / material discrimination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Intended spectral layer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Investigated; AOI-A coverage not confirmed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Road segments (ArcGIS Pro)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Vector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A-001–A-005 and B-001–B-004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Unit of aggregation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Used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Rainfall / environment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 be confirmed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Event and moisture context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Future layer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Not integrated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VHR / Satellite 813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Dataset-dependent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Pavement and geometry validation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with coverage and usage rights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Not confirmed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ata caption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Resolutions are nominal sensor values, not the scale at which pavement condition can be assessed.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04 · HOW HYPERSPECTRAL DATA IS USED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hyperspectral matters</a:t>
            </a:r>
            <a:endParaRPr lang="en-US" sz="3200" dirty="0"/>
          </a:p>
        </p:txBody>
      </p:sp>
      <p:sp>
        <p:nvSpPr>
          <p:cNvPr id="4" name="Multispectral — few broad bands panel"/>
          <p:cNvSpPr/>
          <p:nvPr/>
        </p:nvSpPr>
        <p:spPr>
          <a:xfrm>
            <a:off x="548640" y="1554480"/>
            <a:ext cx="68580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Multispectral — few broad bands label"/>
          <p:cNvSpPr txBox="1"/>
          <p:nvPr/>
        </p:nvSpPr>
        <p:spPr>
          <a:xfrm>
            <a:off x="777240" y="1664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Multispectral — few broad bands</a:t>
            </a:r>
            <a:endParaRPr lang="en-US" sz="1600" dirty="0"/>
          </a:p>
        </p:txBody>
      </p:sp>
      <p:sp>
        <p:nvSpPr>
          <p:cNvPr id="6" name="Multispectral — few broad bands band 1"/>
          <p:cNvSpPr/>
          <p:nvPr/>
        </p:nvSpPr>
        <p:spPr>
          <a:xfrm>
            <a:off x="777240" y="2584278"/>
            <a:ext cx="990600" cy="79900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Multispectral — few broad bands band 2"/>
          <p:cNvSpPr/>
          <p:nvPr/>
        </p:nvSpPr>
        <p:spPr>
          <a:xfrm>
            <a:off x="1859280" y="2448168"/>
            <a:ext cx="990600" cy="9351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Multispectral — few broad bands band 3"/>
          <p:cNvSpPr/>
          <p:nvPr/>
        </p:nvSpPr>
        <p:spPr>
          <a:xfrm>
            <a:off x="2941320" y="2363216"/>
            <a:ext cx="990600" cy="10200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Multispectral — few broad bands band 4"/>
          <p:cNvSpPr/>
          <p:nvPr/>
        </p:nvSpPr>
        <p:spPr>
          <a:xfrm>
            <a:off x="4023360" y="2488692"/>
            <a:ext cx="990600" cy="8945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Multispectral — few broad bands band 5"/>
          <p:cNvSpPr/>
          <p:nvPr/>
        </p:nvSpPr>
        <p:spPr>
          <a:xfrm>
            <a:off x="5105400" y="2382418"/>
            <a:ext cx="990600" cy="10008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Multispectral — few broad bands band 6"/>
          <p:cNvSpPr/>
          <p:nvPr/>
        </p:nvSpPr>
        <p:spPr>
          <a:xfrm>
            <a:off x="6187440" y="2464673"/>
            <a:ext cx="990600" cy="91860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Axis label"/>
          <p:cNvSpPr txBox="1"/>
          <p:nvPr/>
        </p:nvSpPr>
        <p:spPr>
          <a:xfrm>
            <a:off x="77724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Wavelength →</a:t>
            </a:r>
            <a:endParaRPr lang="en-US" sz="1100" dirty="0"/>
          </a:p>
        </p:txBody>
      </p:sp>
      <p:sp>
        <p:nvSpPr>
          <p:cNvPr id="13" name="Schematic note"/>
          <p:cNvSpPr txBox="1"/>
          <p:nvPr/>
        </p:nvSpPr>
        <p:spPr>
          <a:xfrm>
            <a:off x="4069080" y="3456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Schematic — illustrative, not measured data</a:t>
            </a:r>
            <a:endParaRPr lang="en-US" sz="1100" dirty="0"/>
          </a:p>
        </p:txBody>
      </p:sp>
      <p:sp>
        <p:nvSpPr>
          <p:cNvPr id="14" name="Panel annotation"/>
          <p:cNvSpPr txBox="1"/>
          <p:nvPr/>
        </p:nvSpPr>
        <p:spPr>
          <a:xfrm>
            <a:off x="48463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Narrow feature averaged out</a:t>
            </a:r>
            <a:endParaRPr lang="en-US" sz="1200" dirty="0"/>
          </a:p>
        </p:txBody>
      </p:sp>
      <p:sp>
        <p:nvSpPr>
          <p:cNvPr id="15" name="Hyperspectral — many narrow bands panel"/>
          <p:cNvSpPr/>
          <p:nvPr/>
        </p:nvSpPr>
        <p:spPr>
          <a:xfrm>
            <a:off x="548640" y="3977640"/>
            <a:ext cx="68580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Hyperspectral — many narrow bands label"/>
          <p:cNvSpPr txBox="1"/>
          <p:nvPr/>
        </p:nvSpPr>
        <p:spPr>
          <a:xfrm>
            <a:off x="777240" y="4087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Hyperspectral — many narrow bands</a:t>
            </a:r>
            <a:endParaRPr lang="en-US" sz="1600" dirty="0"/>
          </a:p>
        </p:txBody>
      </p:sp>
      <p:sp>
        <p:nvSpPr>
          <p:cNvPr id="17" name="Hyperspectral — many narrow bands band 1"/>
          <p:cNvSpPr/>
          <p:nvPr/>
        </p:nvSpPr>
        <p:spPr>
          <a:xfrm>
            <a:off x="777240" y="5078840"/>
            <a:ext cx="96339" cy="72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Hyperspectral — many narrow bands band 2"/>
          <p:cNvSpPr/>
          <p:nvPr/>
        </p:nvSpPr>
        <p:spPr>
          <a:xfrm>
            <a:off x="891867" y="5060928"/>
            <a:ext cx="96339" cy="7455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Hyperspectral — many narrow bands band 3"/>
          <p:cNvSpPr/>
          <p:nvPr/>
        </p:nvSpPr>
        <p:spPr>
          <a:xfrm>
            <a:off x="1006493" y="5043282"/>
            <a:ext cx="96339" cy="76315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Hyperspectral — many narrow bands band 4"/>
          <p:cNvSpPr/>
          <p:nvPr/>
        </p:nvSpPr>
        <p:spPr>
          <a:xfrm>
            <a:off x="1121120" y="5025936"/>
            <a:ext cx="96339" cy="7805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Hyperspectral — many narrow bands band 5"/>
          <p:cNvSpPr/>
          <p:nvPr/>
        </p:nvSpPr>
        <p:spPr>
          <a:xfrm>
            <a:off x="1235746" y="5008919"/>
            <a:ext cx="96339" cy="79752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Hyperspectral — many narrow bands band 6"/>
          <p:cNvSpPr/>
          <p:nvPr/>
        </p:nvSpPr>
        <p:spPr>
          <a:xfrm>
            <a:off x="1350373" y="4992262"/>
            <a:ext cx="96339" cy="81417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Hyperspectral — many narrow bands band 7"/>
          <p:cNvSpPr/>
          <p:nvPr/>
        </p:nvSpPr>
        <p:spPr>
          <a:xfrm>
            <a:off x="1464999" y="4975995"/>
            <a:ext cx="96339" cy="8304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Hyperspectral — many narrow bands band 8"/>
          <p:cNvSpPr/>
          <p:nvPr/>
        </p:nvSpPr>
        <p:spPr>
          <a:xfrm>
            <a:off x="1579626" y="4960146"/>
            <a:ext cx="96339" cy="84629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Hyperspectral — many narrow bands band 9"/>
          <p:cNvSpPr/>
          <p:nvPr/>
        </p:nvSpPr>
        <p:spPr>
          <a:xfrm>
            <a:off x="1694253" y="4944743"/>
            <a:ext cx="96339" cy="861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Hyperspectral — many narrow bands band 10"/>
          <p:cNvSpPr/>
          <p:nvPr/>
        </p:nvSpPr>
        <p:spPr>
          <a:xfrm>
            <a:off x="1808879" y="4929814"/>
            <a:ext cx="96339" cy="87662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Hyperspectral — many narrow bands band 11"/>
          <p:cNvSpPr/>
          <p:nvPr/>
        </p:nvSpPr>
        <p:spPr>
          <a:xfrm>
            <a:off x="1923506" y="4915383"/>
            <a:ext cx="96339" cy="89105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Hyperspectral — many narrow bands band 12"/>
          <p:cNvSpPr/>
          <p:nvPr/>
        </p:nvSpPr>
        <p:spPr>
          <a:xfrm>
            <a:off x="2038132" y="4901476"/>
            <a:ext cx="96339" cy="9049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Hyperspectral — many narrow bands band 13"/>
          <p:cNvSpPr/>
          <p:nvPr/>
        </p:nvSpPr>
        <p:spPr>
          <a:xfrm>
            <a:off x="2152759" y="4888116"/>
            <a:ext cx="96339" cy="9183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Hyperspectral — many narrow bands band 14"/>
          <p:cNvSpPr/>
          <p:nvPr/>
        </p:nvSpPr>
        <p:spPr>
          <a:xfrm>
            <a:off x="2267385" y="4875326"/>
            <a:ext cx="96339" cy="93111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Hyperspectral — many narrow bands band 15"/>
          <p:cNvSpPr/>
          <p:nvPr/>
        </p:nvSpPr>
        <p:spPr>
          <a:xfrm>
            <a:off x="2382012" y="4863128"/>
            <a:ext cx="96339" cy="9433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Hyperspectral — many narrow bands band 16"/>
          <p:cNvSpPr/>
          <p:nvPr/>
        </p:nvSpPr>
        <p:spPr>
          <a:xfrm>
            <a:off x="2496639" y="4851540"/>
            <a:ext cx="96339" cy="954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Hyperspectral — many narrow bands band 17"/>
          <p:cNvSpPr/>
          <p:nvPr/>
        </p:nvSpPr>
        <p:spPr>
          <a:xfrm>
            <a:off x="2611265" y="4840581"/>
            <a:ext cx="96339" cy="96585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Hyperspectral — many narrow bands band 18"/>
          <p:cNvSpPr/>
          <p:nvPr/>
        </p:nvSpPr>
        <p:spPr>
          <a:xfrm>
            <a:off x="2725892" y="4830270"/>
            <a:ext cx="96339" cy="97617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Hyperspectral — many narrow bands band 19"/>
          <p:cNvSpPr/>
          <p:nvPr/>
        </p:nvSpPr>
        <p:spPr>
          <a:xfrm>
            <a:off x="2840518" y="4820621"/>
            <a:ext cx="96339" cy="98581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Hyperspectral — many narrow bands band 20"/>
          <p:cNvSpPr/>
          <p:nvPr/>
        </p:nvSpPr>
        <p:spPr>
          <a:xfrm>
            <a:off x="2955145" y="4811649"/>
            <a:ext cx="96339" cy="99479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Hyperspectral — many narrow bands band 21"/>
          <p:cNvSpPr/>
          <p:nvPr/>
        </p:nvSpPr>
        <p:spPr>
          <a:xfrm>
            <a:off x="3069771" y="4803368"/>
            <a:ext cx="96339" cy="10030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Hyperspectral — many narrow bands band 22"/>
          <p:cNvSpPr/>
          <p:nvPr/>
        </p:nvSpPr>
        <p:spPr>
          <a:xfrm>
            <a:off x="3184398" y="4795789"/>
            <a:ext cx="96339" cy="101065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Hyperspectral — many narrow bands band 23"/>
          <p:cNvSpPr/>
          <p:nvPr/>
        </p:nvSpPr>
        <p:spPr>
          <a:xfrm>
            <a:off x="3299025" y="4788921"/>
            <a:ext cx="96339" cy="101751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Hyperspectral — many narrow bands band 24"/>
          <p:cNvSpPr/>
          <p:nvPr/>
        </p:nvSpPr>
        <p:spPr>
          <a:xfrm>
            <a:off x="3413651" y="4782773"/>
            <a:ext cx="96339" cy="102366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Hyperspectral — many narrow bands band 25"/>
          <p:cNvSpPr/>
          <p:nvPr/>
        </p:nvSpPr>
        <p:spPr>
          <a:xfrm>
            <a:off x="3528278" y="4777353"/>
            <a:ext cx="96339" cy="1029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Hyperspectral — many narrow bands band 26"/>
          <p:cNvSpPr/>
          <p:nvPr/>
        </p:nvSpPr>
        <p:spPr>
          <a:xfrm>
            <a:off x="3642904" y="4772665"/>
            <a:ext cx="96339" cy="10337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Hyperspectral — many narrow bands band 27"/>
          <p:cNvSpPr/>
          <p:nvPr/>
        </p:nvSpPr>
        <p:spPr>
          <a:xfrm>
            <a:off x="3757531" y="4768713"/>
            <a:ext cx="96339" cy="103772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Hyperspectral — many narrow bands band 28"/>
          <p:cNvSpPr/>
          <p:nvPr/>
        </p:nvSpPr>
        <p:spPr>
          <a:xfrm>
            <a:off x="3872157" y="4765500"/>
            <a:ext cx="96339" cy="10409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Hyperspectral — many narrow bands band 29"/>
          <p:cNvSpPr/>
          <p:nvPr/>
        </p:nvSpPr>
        <p:spPr>
          <a:xfrm>
            <a:off x="3986784" y="4763043"/>
            <a:ext cx="96339" cy="10433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Hyperspectral — many narrow bands band 30"/>
          <p:cNvSpPr/>
          <p:nvPr/>
        </p:nvSpPr>
        <p:spPr>
          <a:xfrm>
            <a:off x="4101411" y="4761631"/>
            <a:ext cx="96339" cy="104480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Hyperspectral — many narrow bands band 31"/>
          <p:cNvSpPr/>
          <p:nvPr/>
        </p:nvSpPr>
        <p:spPr>
          <a:xfrm>
            <a:off x="4216037" y="4764279"/>
            <a:ext cx="96339" cy="104216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Hyperspectral — many narrow bands band 32"/>
          <p:cNvSpPr/>
          <p:nvPr/>
        </p:nvSpPr>
        <p:spPr>
          <a:xfrm>
            <a:off x="4330664" y="4787701"/>
            <a:ext cx="96339" cy="101873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Hyperspectral — many narrow bands band 33"/>
          <p:cNvSpPr/>
          <p:nvPr/>
        </p:nvSpPr>
        <p:spPr>
          <a:xfrm>
            <a:off x="4445290" y="4874550"/>
            <a:ext cx="96339" cy="93189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Hyperspectral — many narrow bands band 34"/>
          <p:cNvSpPr/>
          <p:nvPr/>
        </p:nvSpPr>
        <p:spPr>
          <a:xfrm>
            <a:off x="4559917" y="5040957"/>
            <a:ext cx="96339" cy="76548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Hyperspectral — many narrow bands band 35"/>
          <p:cNvSpPr/>
          <p:nvPr/>
        </p:nvSpPr>
        <p:spPr>
          <a:xfrm>
            <a:off x="4674543" y="5169860"/>
            <a:ext cx="96339" cy="6365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Hyperspectral — many narrow bands band 36"/>
          <p:cNvSpPr/>
          <p:nvPr/>
        </p:nvSpPr>
        <p:spPr>
          <a:xfrm>
            <a:off x="4789170" y="5117326"/>
            <a:ext cx="96339" cy="68911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Hyperspectral — many narrow bands band 37"/>
          <p:cNvSpPr/>
          <p:nvPr/>
        </p:nvSpPr>
        <p:spPr>
          <a:xfrm>
            <a:off x="4903797" y="4949751"/>
            <a:ext cx="96339" cy="85668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Hyperspectral — many narrow bands band 38"/>
          <p:cNvSpPr/>
          <p:nvPr/>
        </p:nvSpPr>
        <p:spPr>
          <a:xfrm>
            <a:off x="5018423" y="4828362"/>
            <a:ext cx="96339" cy="97807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Hyperspectral — many narrow bands band 39"/>
          <p:cNvSpPr/>
          <p:nvPr/>
        </p:nvSpPr>
        <p:spPr>
          <a:xfrm>
            <a:off x="5133050" y="4787906"/>
            <a:ext cx="96339" cy="101853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Hyperspectral — many narrow bands band 40"/>
          <p:cNvSpPr/>
          <p:nvPr/>
        </p:nvSpPr>
        <p:spPr>
          <a:xfrm>
            <a:off x="5247676" y="4784247"/>
            <a:ext cx="96339" cy="102219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Hyperspectral — many narrow bands band 41"/>
          <p:cNvSpPr/>
          <p:nvPr/>
        </p:nvSpPr>
        <p:spPr>
          <a:xfrm>
            <a:off x="5362303" y="4789110"/>
            <a:ext cx="96339" cy="101733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Hyperspectral — many narrow bands band 42"/>
          <p:cNvSpPr/>
          <p:nvPr/>
        </p:nvSpPr>
        <p:spPr>
          <a:xfrm>
            <a:off x="5476929" y="4795519"/>
            <a:ext cx="96339" cy="101092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Hyperspectral — many narrow bands band 43"/>
          <p:cNvSpPr/>
          <p:nvPr/>
        </p:nvSpPr>
        <p:spPr>
          <a:xfrm>
            <a:off x="5591556" y="4802577"/>
            <a:ext cx="96339" cy="10038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Hyperspectral — many narrow bands band 44"/>
          <p:cNvSpPr/>
          <p:nvPr/>
        </p:nvSpPr>
        <p:spPr>
          <a:xfrm>
            <a:off x="5706183" y="4810202"/>
            <a:ext cx="96339" cy="9962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Hyperspectral — many narrow bands band 45"/>
          <p:cNvSpPr/>
          <p:nvPr/>
        </p:nvSpPr>
        <p:spPr>
          <a:xfrm>
            <a:off x="5820809" y="4818368"/>
            <a:ext cx="96339" cy="9880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Hyperspectral — many narrow bands band 46"/>
          <p:cNvSpPr/>
          <p:nvPr/>
        </p:nvSpPr>
        <p:spPr>
          <a:xfrm>
            <a:off x="5935436" y="4827051"/>
            <a:ext cx="96339" cy="97938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Hyperspectral — many narrow bands band 47"/>
          <p:cNvSpPr/>
          <p:nvPr/>
        </p:nvSpPr>
        <p:spPr>
          <a:xfrm>
            <a:off x="6050062" y="4836227"/>
            <a:ext cx="96339" cy="9702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Hyperspectral — many narrow bands band 48"/>
          <p:cNvSpPr/>
          <p:nvPr/>
        </p:nvSpPr>
        <p:spPr>
          <a:xfrm>
            <a:off x="6164689" y="4845869"/>
            <a:ext cx="96339" cy="96057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Hyperspectral — many narrow bands band 49"/>
          <p:cNvSpPr/>
          <p:nvPr/>
        </p:nvSpPr>
        <p:spPr>
          <a:xfrm>
            <a:off x="6279315" y="4855950"/>
            <a:ext cx="96339" cy="95049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Hyperspectral — many narrow bands band 50"/>
          <p:cNvSpPr/>
          <p:nvPr/>
        </p:nvSpPr>
        <p:spPr>
          <a:xfrm>
            <a:off x="6393942" y="4866443"/>
            <a:ext cx="96339" cy="9399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Hyperspectral — many narrow bands band 51"/>
          <p:cNvSpPr/>
          <p:nvPr/>
        </p:nvSpPr>
        <p:spPr>
          <a:xfrm>
            <a:off x="6508569" y="4877317"/>
            <a:ext cx="96339" cy="9291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Hyperspectral — many narrow bands band 52"/>
          <p:cNvSpPr/>
          <p:nvPr/>
        </p:nvSpPr>
        <p:spPr>
          <a:xfrm>
            <a:off x="6623195" y="4888544"/>
            <a:ext cx="96339" cy="917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Hyperspectral — many narrow bands band 53"/>
          <p:cNvSpPr/>
          <p:nvPr/>
        </p:nvSpPr>
        <p:spPr>
          <a:xfrm>
            <a:off x="6737822" y="4900092"/>
            <a:ext cx="96339" cy="9063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Hyperspectral — many narrow bands band 54"/>
          <p:cNvSpPr/>
          <p:nvPr/>
        </p:nvSpPr>
        <p:spPr>
          <a:xfrm>
            <a:off x="6852448" y="4911931"/>
            <a:ext cx="96339" cy="89450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Hyperspectral — many narrow bands band 55"/>
          <p:cNvSpPr/>
          <p:nvPr/>
        </p:nvSpPr>
        <p:spPr>
          <a:xfrm>
            <a:off x="6967075" y="4924029"/>
            <a:ext cx="96339" cy="88241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Hyperspectral — many narrow bands band 56"/>
          <p:cNvSpPr/>
          <p:nvPr/>
        </p:nvSpPr>
        <p:spPr>
          <a:xfrm>
            <a:off x="7081701" y="4936353"/>
            <a:ext cx="96339" cy="870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Axis label"/>
          <p:cNvSpPr txBox="1"/>
          <p:nvPr/>
        </p:nvSpPr>
        <p:spPr>
          <a:xfrm>
            <a:off x="777240" y="5879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Wavelength →</a:t>
            </a:r>
            <a:endParaRPr lang="en-US" sz="1100" dirty="0"/>
          </a:p>
        </p:txBody>
      </p:sp>
      <p:sp>
        <p:nvSpPr>
          <p:cNvPr id="74" name="Schematic note"/>
          <p:cNvSpPr txBox="1"/>
          <p:nvPr/>
        </p:nvSpPr>
        <p:spPr>
          <a:xfrm>
            <a:off x="4069080" y="5879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Schematic — illustrative, not measured data</a:t>
            </a:r>
            <a:endParaRPr lang="en-US" sz="1100" dirty="0"/>
          </a:p>
        </p:txBody>
      </p:sp>
      <p:sp>
        <p:nvSpPr>
          <p:cNvPr id="75" name="Panel annotation"/>
          <p:cNvSpPr txBox="1"/>
          <p:nvPr/>
        </p:nvSpPr>
        <p:spPr>
          <a:xfrm>
            <a:off x="48463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Narrow feature resolved</a:t>
            </a:r>
            <a:endParaRPr lang="en-US" sz="1200" dirty="0"/>
          </a:p>
        </p:txBody>
      </p:sp>
      <p:sp>
        <p:nvSpPr>
          <p:cNvPr id="76" name="Role card"/>
          <p:cNvSpPr/>
          <p:nvPr/>
        </p:nvSpPr>
        <p:spPr>
          <a:xfrm>
            <a:off x="7680960" y="1554480"/>
            <a:ext cx="3959352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Role label"/>
          <p:cNvSpPr txBox="1"/>
          <p:nvPr/>
        </p:nvSpPr>
        <p:spPr>
          <a:xfrm>
            <a:off x="795528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OUR INTENDED ROLE</a:t>
            </a:r>
            <a:endParaRPr lang="en-US" sz="1200" dirty="0"/>
          </a:p>
        </p:txBody>
      </p:sp>
      <p:sp>
        <p:nvSpPr>
          <p:cNvPr id="78" name="Role text"/>
          <p:cNvSpPr txBox="1"/>
          <p:nvPr/>
        </p:nvSpPr>
        <p:spPr>
          <a:xfrm>
            <a:off x="7955280" y="2057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Hyperspectral can help identify unusual spectral behaviour that may justify inspection.</a:t>
            </a:r>
            <a:endParaRPr lang="en-US" sz="2000" dirty="0"/>
          </a:p>
        </p:txBody>
      </p:sp>
      <p:sp>
        <p:nvSpPr>
          <p:cNvPr id="79" name="Not claimed card"/>
          <p:cNvSpPr/>
          <p:nvPr/>
        </p:nvSpPr>
        <p:spPr>
          <a:xfrm>
            <a:off x="7680960" y="3931920"/>
            <a:ext cx="3959352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0" name="Not claimed label"/>
          <p:cNvSpPr txBox="1"/>
          <p:nvPr/>
        </p:nvSpPr>
        <p:spPr>
          <a:xfrm>
            <a:off x="795528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WHAT WE DO NOT CLAIM</a:t>
            </a:r>
            <a:endParaRPr lang="en-US" sz="1200" dirty="0"/>
          </a:p>
        </p:txBody>
      </p:sp>
      <p:sp>
        <p:nvSpPr>
          <p:cNvPr id="81" name="Not claimed text"/>
          <p:cNvSpPr txBox="1"/>
          <p:nvPr/>
        </p:nvSpPr>
        <p:spPr>
          <a:xfrm>
            <a:off x="7955280" y="4343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That hyperspectral detects pavement damage.</a:t>
            </a:r>
            <a:endParaRPr lang="en-US" sz="1500" dirty="0"/>
          </a:p>
        </p:txBody>
      </p:sp>
      <p:sp>
        <p:nvSpPr>
          <p:cNvPr id="82" name="Access card"/>
          <p:cNvSpPr/>
          <p:nvPr/>
        </p:nvSpPr>
        <p:spPr>
          <a:xfrm>
            <a:off x="7680960" y="5166360"/>
            <a:ext cx="395935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3" name="Access label"/>
          <p:cNvSpPr txBox="1"/>
          <p:nvPr/>
        </p:nvSpPr>
        <p:spPr>
          <a:xfrm>
            <a:off x="7955280" y="5276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CURRENT STATUS</a:t>
            </a:r>
            <a:endParaRPr lang="en-US" sz="1200" dirty="0"/>
          </a:p>
        </p:txBody>
      </p:sp>
      <p:sp>
        <p:nvSpPr>
          <p:cNvPr id="84" name="Access text"/>
          <p:cNvSpPr txBox="1"/>
          <p:nvPr/>
        </p:nvSpPr>
        <p:spPr>
          <a:xfrm>
            <a:off x="7955280" y="55504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EnMAP and Tanager investigated; AOI‑A coverage not confirmed. Not used in current results.</a:t>
            </a:r>
            <a:endParaRPr lang="en-US" sz="1400" dirty="0"/>
          </a:p>
        </p:txBody>
      </p:sp>
      <p:sp>
        <p:nvSpPr>
          <p:cNvPr id="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05 · APPROACH / WORKFLOW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THABAT works</a:t>
            </a:r>
            <a:endParaRPr lang="en-US" sz="32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0020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tep bubble 1"/>
          <p:cNvSpPr/>
          <p:nvPr/>
        </p:nvSpPr>
        <p:spPr>
          <a:xfrm>
            <a:off x="685800" y="173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tep number 1"/>
          <p:cNvSpPr txBox="1"/>
          <p:nvPr/>
        </p:nvSpPr>
        <p:spPr>
          <a:xfrm>
            <a:off x="6858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title 1"/>
          <p:cNvSpPr txBox="1"/>
          <p:nvPr/>
        </p:nvSpPr>
        <p:spPr>
          <a:xfrm>
            <a:off x="685800" y="2130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Road segments</a:t>
            </a:r>
            <a:endParaRPr lang="en-US" sz="1400" dirty="0"/>
          </a:p>
        </p:txBody>
      </p:sp>
      <p:sp>
        <p:nvSpPr>
          <p:cNvPr id="8" name="Step sub 1"/>
          <p:cNvSpPr txBox="1"/>
          <p:nvPr/>
        </p:nvSpPr>
        <p:spPr>
          <a:xfrm>
            <a:off x="685800" y="26243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ArcGIS Pro: A2011001–A2011005, B2011001–B2011004</a:t>
            </a:r>
            <a:endParaRPr lang="en-US" sz="1100" dirty="0"/>
          </a:p>
        </p:txBody>
      </p:sp>
      <p:sp>
        <p:nvSpPr>
          <p:cNvPr id="9" name="Step chevron"/>
          <p:cNvSpPr/>
          <p:nvPr/>
        </p:nvSpPr>
        <p:spPr>
          <a:xfrm>
            <a:off x="2615184" y="2194560"/>
            <a:ext cx="118872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tep card 2"/>
          <p:cNvSpPr/>
          <p:nvPr/>
        </p:nvSpPr>
        <p:spPr>
          <a:xfrm>
            <a:off x="2818638" y="160020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tep bubble 2"/>
          <p:cNvSpPr/>
          <p:nvPr/>
        </p:nvSpPr>
        <p:spPr>
          <a:xfrm>
            <a:off x="2955798" y="173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tep number 2"/>
          <p:cNvSpPr txBox="1"/>
          <p:nvPr/>
        </p:nvSpPr>
        <p:spPr>
          <a:xfrm>
            <a:off x="295579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 title 2"/>
          <p:cNvSpPr txBox="1"/>
          <p:nvPr/>
        </p:nvSpPr>
        <p:spPr>
          <a:xfrm>
            <a:off x="2955798" y="2130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Landsat 9 surface temperature</a:t>
            </a:r>
            <a:endParaRPr lang="en-US" sz="1400" dirty="0"/>
          </a:p>
        </p:txBody>
      </p:sp>
      <p:sp>
        <p:nvSpPr>
          <p:cNvPr id="14" name="Step sub 2"/>
          <p:cNvSpPr txBox="1"/>
          <p:nvPr/>
        </p:nvSpPr>
        <p:spPr>
          <a:xfrm>
            <a:off x="2955798" y="26243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DN → Kelvin → °C; DN = 0 is nodata</a:t>
            </a:r>
            <a:endParaRPr lang="en-US" sz="1100" dirty="0"/>
          </a:p>
        </p:txBody>
      </p:sp>
      <p:sp>
        <p:nvSpPr>
          <p:cNvPr id="15" name="Step chevron"/>
          <p:cNvSpPr/>
          <p:nvPr/>
        </p:nvSpPr>
        <p:spPr>
          <a:xfrm>
            <a:off x="4885182" y="2194560"/>
            <a:ext cx="118872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tep card 3"/>
          <p:cNvSpPr/>
          <p:nvPr/>
        </p:nvSpPr>
        <p:spPr>
          <a:xfrm>
            <a:off x="5088636" y="160020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tep bubble 3"/>
          <p:cNvSpPr/>
          <p:nvPr/>
        </p:nvSpPr>
        <p:spPr>
          <a:xfrm>
            <a:off x="5225796" y="173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tep number 3"/>
          <p:cNvSpPr txBox="1"/>
          <p:nvPr/>
        </p:nvSpPr>
        <p:spPr>
          <a:xfrm>
            <a:off x="522579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 title 3"/>
          <p:cNvSpPr txBox="1"/>
          <p:nvPr/>
        </p:nvSpPr>
        <p:spPr>
          <a:xfrm>
            <a:off x="5225796" y="2130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Segment thermal statistics</a:t>
            </a:r>
            <a:endParaRPr lang="en-US" sz="1400" dirty="0"/>
          </a:p>
        </p:txBody>
      </p:sp>
      <p:sp>
        <p:nvSpPr>
          <p:cNvPr id="20" name="Step sub 3"/>
          <p:cNvSpPr txBox="1"/>
          <p:nvPr/>
        </p:nvSpPr>
        <p:spPr>
          <a:xfrm>
            <a:off x="5225796" y="26243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Median, range, valid pixels</a:t>
            </a:r>
            <a:endParaRPr lang="en-US" sz="1100" dirty="0"/>
          </a:p>
        </p:txBody>
      </p:sp>
      <p:sp>
        <p:nvSpPr>
          <p:cNvPr id="21" name="Step chevron"/>
          <p:cNvSpPr/>
          <p:nvPr/>
        </p:nvSpPr>
        <p:spPr>
          <a:xfrm>
            <a:off x="7155180" y="2194560"/>
            <a:ext cx="118872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tep card 4"/>
          <p:cNvSpPr/>
          <p:nvPr/>
        </p:nvSpPr>
        <p:spPr>
          <a:xfrm>
            <a:off x="7358634" y="160020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tep bubble 4"/>
          <p:cNvSpPr/>
          <p:nvPr/>
        </p:nvSpPr>
        <p:spPr>
          <a:xfrm>
            <a:off x="7495794" y="173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tep number 4"/>
          <p:cNvSpPr txBox="1"/>
          <p:nvPr/>
        </p:nvSpPr>
        <p:spPr>
          <a:xfrm>
            <a:off x="749579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 title 4"/>
          <p:cNvSpPr txBox="1"/>
          <p:nvPr/>
        </p:nvSpPr>
        <p:spPr>
          <a:xfrm>
            <a:off x="7495794" y="2130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Quality and sanity checks</a:t>
            </a:r>
            <a:endParaRPr lang="en-US" sz="1400" dirty="0"/>
          </a:p>
        </p:txBody>
      </p:sp>
      <p:sp>
        <p:nvSpPr>
          <p:cNvPr id="26" name="Step sub 4"/>
          <p:cNvSpPr txBox="1"/>
          <p:nvPr/>
        </p:nvSpPr>
        <p:spPr>
          <a:xfrm>
            <a:off x="7495794" y="26243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Support: high / medium / low</a:t>
            </a:r>
            <a:endParaRPr lang="en-US" sz="1100" dirty="0"/>
          </a:p>
        </p:txBody>
      </p:sp>
      <p:sp>
        <p:nvSpPr>
          <p:cNvPr id="27" name="Step chevron"/>
          <p:cNvSpPr/>
          <p:nvPr/>
        </p:nvSpPr>
        <p:spPr>
          <a:xfrm>
            <a:off x="9425178" y="2194560"/>
            <a:ext cx="118872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tep card 5"/>
          <p:cNvSpPr/>
          <p:nvPr/>
        </p:nvSpPr>
        <p:spPr>
          <a:xfrm>
            <a:off x="9628632" y="160020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tep bubble 5"/>
          <p:cNvSpPr/>
          <p:nvPr/>
        </p:nvSpPr>
        <p:spPr>
          <a:xfrm>
            <a:off x="9765792" y="173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tep number 5"/>
          <p:cNvSpPr txBox="1"/>
          <p:nvPr/>
        </p:nvSpPr>
        <p:spPr>
          <a:xfrm>
            <a:off x="976579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tep title 5"/>
          <p:cNvSpPr txBox="1"/>
          <p:nvPr/>
        </p:nvSpPr>
        <p:spPr>
          <a:xfrm>
            <a:off x="9765792" y="2130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Robust standardisation</a:t>
            </a:r>
            <a:endParaRPr lang="en-US" sz="1400" dirty="0"/>
          </a:p>
        </p:txBody>
      </p:sp>
      <p:sp>
        <p:nvSpPr>
          <p:cNvPr id="32" name="Step sub 5"/>
          <p:cNvSpPr txBox="1"/>
          <p:nvPr/>
        </p:nvSpPr>
        <p:spPr>
          <a:xfrm>
            <a:off x="9765792" y="26243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Median and range standardised</a:t>
            </a:r>
            <a:endParaRPr lang="en-US" sz="1100" dirty="0"/>
          </a:p>
        </p:txBody>
      </p:sp>
      <p:sp>
        <p:nvSpPr>
          <p:cNvPr id="33" name="Step card 6"/>
          <p:cNvSpPr/>
          <p:nvPr/>
        </p:nvSpPr>
        <p:spPr>
          <a:xfrm>
            <a:off x="548640" y="333756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tep bubble 6"/>
          <p:cNvSpPr/>
          <p:nvPr/>
        </p:nvSpPr>
        <p:spPr>
          <a:xfrm>
            <a:off x="685800" y="34747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tep number 6"/>
          <p:cNvSpPr txBox="1"/>
          <p:nvPr/>
        </p:nvSpPr>
        <p:spPr>
          <a:xfrm>
            <a:off x="6858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Step title 6"/>
          <p:cNvSpPr txBox="1"/>
          <p:nvPr/>
        </p:nvSpPr>
        <p:spPr>
          <a:xfrm>
            <a:off x="685800" y="3867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Anomaly + spread</a:t>
            </a:r>
            <a:endParaRPr lang="en-US" sz="1400" dirty="0"/>
          </a:p>
        </p:txBody>
      </p:sp>
      <p:sp>
        <p:nvSpPr>
          <p:cNvPr id="37" name="Step sub 6"/>
          <p:cNvSpPr txBox="1"/>
          <p:nvPr/>
        </p:nvSpPr>
        <p:spPr>
          <a:xfrm>
            <a:off x="685800" y="4361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max(z_median, 0) + max(z_range, 0)</a:t>
            </a:r>
            <a:endParaRPr lang="en-US" sz="1100" dirty="0"/>
          </a:p>
        </p:txBody>
      </p:sp>
      <p:sp>
        <p:nvSpPr>
          <p:cNvPr id="38" name="Step chevron"/>
          <p:cNvSpPr/>
          <p:nvPr/>
        </p:nvSpPr>
        <p:spPr>
          <a:xfrm>
            <a:off x="2615184" y="3931920"/>
            <a:ext cx="118872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Step card 7"/>
          <p:cNvSpPr/>
          <p:nvPr/>
        </p:nvSpPr>
        <p:spPr>
          <a:xfrm>
            <a:off x="2818638" y="333756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tep bubble 7"/>
          <p:cNvSpPr/>
          <p:nvPr/>
        </p:nvSpPr>
        <p:spPr>
          <a:xfrm>
            <a:off x="2955798" y="34747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tep number 7"/>
          <p:cNvSpPr txBox="1"/>
          <p:nvPr/>
        </p:nvSpPr>
        <p:spPr>
          <a:xfrm>
            <a:off x="2955798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Step title 7"/>
          <p:cNvSpPr txBox="1"/>
          <p:nvPr/>
        </p:nvSpPr>
        <p:spPr>
          <a:xfrm>
            <a:off x="2955798" y="3867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Screening priority</a:t>
            </a:r>
            <a:endParaRPr lang="en-US" sz="1400" dirty="0"/>
          </a:p>
        </p:txBody>
      </p:sp>
      <p:sp>
        <p:nvSpPr>
          <p:cNvPr id="43" name="Step sub 7"/>
          <p:cNvSpPr txBox="1"/>
          <p:nvPr/>
        </p:nvSpPr>
        <p:spPr>
          <a:xfrm>
            <a:off x="2955798" y="4361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Higher / lower, with support flag</a:t>
            </a:r>
            <a:endParaRPr lang="en-US" sz="1100" dirty="0"/>
          </a:p>
        </p:txBody>
      </p:sp>
      <p:sp>
        <p:nvSpPr>
          <p:cNvPr id="44" name="Step chevron"/>
          <p:cNvSpPr/>
          <p:nvPr/>
        </p:nvSpPr>
        <p:spPr>
          <a:xfrm>
            <a:off x="4885182" y="3931920"/>
            <a:ext cx="118872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Step card 8"/>
          <p:cNvSpPr/>
          <p:nvPr/>
        </p:nvSpPr>
        <p:spPr>
          <a:xfrm>
            <a:off x="5088636" y="333756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Step bubble 8"/>
          <p:cNvSpPr/>
          <p:nvPr/>
        </p:nvSpPr>
        <p:spPr>
          <a:xfrm>
            <a:off x="5225796" y="34747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Step number 8"/>
          <p:cNvSpPr txBox="1"/>
          <p:nvPr/>
        </p:nvSpPr>
        <p:spPr>
          <a:xfrm>
            <a:off x="5225796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8" name="Step title 8"/>
          <p:cNvSpPr txBox="1"/>
          <p:nvPr/>
        </p:nvSpPr>
        <p:spPr>
          <a:xfrm>
            <a:off x="5225796" y="3867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Tables and figures</a:t>
            </a:r>
            <a:endParaRPr lang="en-US" sz="1400" dirty="0"/>
          </a:p>
        </p:txBody>
      </p:sp>
      <p:sp>
        <p:nvSpPr>
          <p:cNvPr id="49" name="Step sub 8"/>
          <p:cNvSpPr txBox="1"/>
          <p:nvPr/>
        </p:nvSpPr>
        <p:spPr>
          <a:xfrm>
            <a:off x="5225796" y="4361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Exported to results/ by the notebook</a:t>
            </a:r>
            <a:endParaRPr lang="en-US" sz="1100" dirty="0"/>
          </a:p>
        </p:txBody>
      </p:sp>
      <p:sp>
        <p:nvSpPr>
          <p:cNvPr id="50" name="Context card"/>
          <p:cNvSpPr/>
          <p:nvPr/>
        </p:nvSpPr>
        <p:spPr>
          <a:xfrm>
            <a:off x="7358634" y="333756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Context label"/>
          <p:cNvSpPr txBox="1"/>
          <p:nvPr/>
        </p:nvSpPr>
        <p:spPr>
          <a:xfrm>
            <a:off x="7495794" y="3474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CONTEXT CHECK</a:t>
            </a:r>
            <a:endParaRPr lang="en-US" sz="1100" dirty="0"/>
          </a:p>
        </p:txBody>
      </p:sp>
      <p:sp>
        <p:nvSpPr>
          <p:cNvPr id="52" name="Context text"/>
          <p:cNvSpPr txBox="1"/>
          <p:nvPr/>
        </p:nvSpPr>
        <p:spPr>
          <a:xfrm>
            <a:off x="7495794" y="3749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Sentinel-2 L2A visual comparison, 19 Sep ↔ 4 Oct 2026</a:t>
            </a:r>
            <a:endParaRPr lang="en-US" sz="1400" dirty="0"/>
          </a:p>
        </p:txBody>
      </p:sp>
      <p:sp>
        <p:nvSpPr>
          <p:cNvPr id="53" name="Output card"/>
          <p:cNvSpPr/>
          <p:nvPr/>
        </p:nvSpPr>
        <p:spPr>
          <a:xfrm>
            <a:off x="9628632" y="3337560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Output label"/>
          <p:cNvSpPr txBox="1"/>
          <p:nvPr/>
        </p:nvSpPr>
        <p:spPr>
          <a:xfrm>
            <a:off x="9765792" y="3474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OUTPUT</a:t>
            </a:r>
            <a:endParaRPr lang="en-US" sz="1100" dirty="0"/>
          </a:p>
        </p:txBody>
      </p:sp>
      <p:sp>
        <p:nvSpPr>
          <p:cNvPr id="55" name="Output text"/>
          <p:cNvSpPr txBox="1"/>
          <p:nvPr/>
        </p:nvSpPr>
        <p:spPr>
          <a:xfrm>
            <a:off x="9765792" y="3749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ranked, explainable inspection queue</a:t>
            </a:r>
            <a:endParaRPr lang="en-US" sz="1500" dirty="0"/>
          </a:p>
        </p:txBody>
      </p:sp>
      <p:sp>
        <p:nvSpPr>
          <p:cNvPr id="56" name="Future label"/>
          <p:cNvSpPr txBox="1"/>
          <p:nvPr/>
        </p:nvSpPr>
        <p:spPr>
          <a:xfrm>
            <a:off x="548640" y="51023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FUTURE LAYERS  ·  NOT IN CURRENT RESULTS</a:t>
            </a:r>
            <a:endParaRPr lang="en-US" sz="1100" dirty="0"/>
          </a:p>
        </p:txBody>
      </p:sp>
      <p:sp>
        <p:nvSpPr>
          <p:cNvPr id="57" name="Future chip 1"/>
          <p:cNvSpPr/>
          <p:nvPr/>
        </p:nvSpPr>
        <p:spPr>
          <a:xfrm>
            <a:off x="548640" y="5513832"/>
            <a:ext cx="2635758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8" name="Future label 1"/>
          <p:cNvSpPr txBox="1"/>
          <p:nvPr/>
        </p:nvSpPr>
        <p:spPr>
          <a:xfrm>
            <a:off x="548640" y="5513832"/>
            <a:ext cx="26357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Hyperspectral fusion</a:t>
            </a:r>
            <a:endParaRPr lang="en-US" sz="1600" dirty="0"/>
          </a:p>
        </p:txBody>
      </p:sp>
      <p:sp>
        <p:nvSpPr>
          <p:cNvPr id="59" name="Future chip 2"/>
          <p:cNvSpPr/>
          <p:nvPr/>
        </p:nvSpPr>
        <p:spPr>
          <a:xfrm>
            <a:off x="3367278" y="5513832"/>
            <a:ext cx="2635758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60" name="Future label 2"/>
          <p:cNvSpPr txBox="1"/>
          <p:nvPr/>
        </p:nvSpPr>
        <p:spPr>
          <a:xfrm>
            <a:off x="3367278" y="5513832"/>
            <a:ext cx="26357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Rainfall / environment</a:t>
            </a:r>
            <a:endParaRPr lang="en-US" sz="1600" dirty="0"/>
          </a:p>
        </p:txBody>
      </p:sp>
      <p:sp>
        <p:nvSpPr>
          <p:cNvPr id="61" name="Future chip 3"/>
          <p:cNvSpPr/>
          <p:nvPr/>
        </p:nvSpPr>
        <p:spPr>
          <a:xfrm>
            <a:off x="6185916" y="5513832"/>
            <a:ext cx="2635758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62" name="Future label 3"/>
          <p:cNvSpPr txBox="1"/>
          <p:nvPr/>
        </p:nvSpPr>
        <p:spPr>
          <a:xfrm>
            <a:off x="6185916" y="5513832"/>
            <a:ext cx="26357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VHR / Satellite 813</a:t>
            </a:r>
            <a:endParaRPr lang="en-US" sz="1600" dirty="0"/>
          </a:p>
        </p:txBody>
      </p:sp>
      <p:sp>
        <p:nvSpPr>
          <p:cNvPr id="63" name="Future chip 4"/>
          <p:cNvSpPr/>
          <p:nvPr/>
        </p:nvSpPr>
        <p:spPr>
          <a:xfrm>
            <a:off x="9004554" y="5513832"/>
            <a:ext cx="2635758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64" name="Future label 4"/>
          <p:cNvSpPr txBox="1"/>
          <p:nvPr/>
        </p:nvSpPr>
        <p:spPr>
          <a:xfrm>
            <a:off x="9004554" y="5513832"/>
            <a:ext cx="26357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Field validation</a:t>
            </a:r>
            <a:endParaRPr lang="en-US" sz="16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06 · EXAMPLE OUTPUTS  ·  1 OF 2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THABAT produces</a:t>
            </a:r>
            <a:endParaRPr lang="en-US" sz="3200" dirty="0"/>
          </a:p>
        </p:txBody>
      </p:sp>
      <p:sp>
        <p:nvSpPr>
          <p:cNvPr id="4" name="Output map frame"/>
          <p:cNvSpPr/>
          <p:nvPr/>
        </p:nvSpPr>
        <p:spPr>
          <a:xfrm>
            <a:off x="548640" y="1554480"/>
            <a:ext cx="7589520" cy="4251960"/>
          </a:xfrm>
          <a:prstGeom prst="rect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" name="Graticule"/>
          <p:cNvSpPr/>
          <p:nvPr/>
        </p:nvSpPr>
        <p:spPr>
          <a:xfrm>
            <a:off x="1813560" y="1554480"/>
            <a:ext cx="9144" cy="425196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Graticule"/>
          <p:cNvSpPr/>
          <p:nvPr/>
        </p:nvSpPr>
        <p:spPr>
          <a:xfrm>
            <a:off x="3078480" y="1554480"/>
            <a:ext cx="9144" cy="425196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Graticule"/>
          <p:cNvSpPr/>
          <p:nvPr/>
        </p:nvSpPr>
        <p:spPr>
          <a:xfrm>
            <a:off x="4343400" y="1554480"/>
            <a:ext cx="9144" cy="425196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Graticule"/>
          <p:cNvSpPr/>
          <p:nvPr/>
        </p:nvSpPr>
        <p:spPr>
          <a:xfrm>
            <a:off x="5608320" y="1554480"/>
            <a:ext cx="9144" cy="425196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Graticule"/>
          <p:cNvSpPr/>
          <p:nvPr/>
        </p:nvSpPr>
        <p:spPr>
          <a:xfrm>
            <a:off x="6873240" y="1554480"/>
            <a:ext cx="9144" cy="4251960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Graticule"/>
          <p:cNvSpPr/>
          <p:nvPr/>
        </p:nvSpPr>
        <p:spPr>
          <a:xfrm>
            <a:off x="548640" y="2617470"/>
            <a:ext cx="7589520" cy="9144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Graticule"/>
          <p:cNvSpPr/>
          <p:nvPr/>
        </p:nvSpPr>
        <p:spPr>
          <a:xfrm>
            <a:off x="548640" y="3680460"/>
            <a:ext cx="7589520" cy="9144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Graticule"/>
          <p:cNvSpPr/>
          <p:nvPr/>
        </p:nvSpPr>
        <p:spPr>
          <a:xfrm>
            <a:off x="548640" y="4743450"/>
            <a:ext cx="7589520" cy="9144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Output map title"/>
          <p:cNvSpPr txBox="1"/>
          <p:nvPr/>
        </p:nvSpPr>
        <p:spPr>
          <a:xfrm>
            <a:off x="822960" y="37261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Landsat surface-temperature context for AOI-A</a:t>
            </a:r>
            <a:endParaRPr lang="en-US" sz="1400" dirty="0"/>
          </a:p>
        </p:txBody>
      </p:sp>
      <p:sp>
        <p:nvSpPr>
          <p:cNvPr id="16" name="Map caption"/>
          <p:cNvSpPr txBox="1"/>
          <p:nvPr/>
        </p:nvSpPr>
        <p:spPr>
          <a:xfrm>
            <a:off x="548640" y="5897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Landsat 9 surface-temperature context (°C), 31 Aug 2026 — DN 0 masked as no-data; segment statistics are shown on the next slide</a:t>
            </a:r>
            <a:endParaRPr lang="en-US" sz="1400" dirty="0"/>
          </a:p>
        </p:txBody>
      </p:sp>
      <p:sp>
        <p:nvSpPr>
          <p:cNvPr id="17" name="Metadata card"/>
          <p:cNvSpPr/>
          <p:nvPr/>
        </p:nvSpPr>
        <p:spPr>
          <a:xfrm>
            <a:off x="8412480" y="1554480"/>
            <a:ext cx="3227832" cy="425196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Meta label 1"/>
          <p:cNvSpPr txBox="1"/>
          <p:nvPr/>
        </p:nvSpPr>
        <p:spPr>
          <a:xfrm>
            <a:off x="864108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STUDY AREA</a:t>
            </a:r>
            <a:endParaRPr lang="en-US" sz="1100" dirty="0"/>
          </a:p>
        </p:txBody>
      </p:sp>
      <p:sp>
        <p:nvSpPr>
          <p:cNvPr id="19" name="Meta value 1"/>
          <p:cNvSpPr txBox="1"/>
          <p:nvPr/>
        </p:nvSpPr>
        <p:spPr>
          <a:xfrm>
            <a:off x="8641080" y="19659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AOI-A — Saih Al Salam Street D42</a:t>
            </a:r>
            <a:endParaRPr lang="en-US" sz="1400" dirty="0"/>
          </a:p>
        </p:txBody>
      </p:sp>
      <p:sp>
        <p:nvSpPr>
          <p:cNvPr id="20" name="Meta label 2"/>
          <p:cNvSpPr txBox="1"/>
          <p:nvPr/>
        </p:nvSpPr>
        <p:spPr>
          <a:xfrm>
            <a:off x="8641080" y="25237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SEGMENTS</a:t>
            </a:r>
            <a:endParaRPr lang="en-US" sz="1100" dirty="0"/>
          </a:p>
        </p:txBody>
      </p:sp>
      <p:sp>
        <p:nvSpPr>
          <p:cNvPr id="21" name="Meta value 2"/>
          <p:cNvSpPr txBox="1"/>
          <p:nvPr/>
        </p:nvSpPr>
        <p:spPr>
          <a:xfrm>
            <a:off x="8641080" y="27706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A-001 – A-005 (88–91 px each)</a:t>
            </a:r>
            <a:endParaRPr lang="en-US" sz="1400" dirty="0"/>
          </a:p>
        </p:txBody>
      </p:sp>
      <p:sp>
        <p:nvSpPr>
          <p:cNvPr id="22" name="Meta label 3"/>
          <p:cNvSpPr txBox="1"/>
          <p:nvPr/>
        </p:nvSpPr>
        <p:spPr>
          <a:xfrm>
            <a:off x="8641080" y="33284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SCENE</a:t>
            </a:r>
            <a:endParaRPr lang="en-US" sz="1100" dirty="0"/>
          </a:p>
        </p:txBody>
      </p:sp>
      <p:sp>
        <p:nvSpPr>
          <p:cNvPr id="23" name="Meta value 3"/>
          <p:cNvSpPr txBox="1"/>
          <p:nvPr/>
        </p:nvSpPr>
        <p:spPr>
          <a:xfrm>
            <a:off x="8641080" y="357530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Landsat 9 C2 L2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LC09_L2SP_160043_20260831_02_T1</a:t>
            </a:r>
            <a:endParaRPr lang="en-US" sz="1200" dirty="0"/>
          </a:p>
        </p:txBody>
      </p:sp>
      <p:sp>
        <p:nvSpPr>
          <p:cNvPr id="24" name="Meta label 4"/>
          <p:cNvSpPr txBox="1"/>
          <p:nvPr/>
        </p:nvSpPr>
        <p:spPr>
          <a:xfrm>
            <a:off x="8641080" y="41330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ACQUIRED</a:t>
            </a:r>
            <a:endParaRPr lang="en-US" sz="1100" dirty="0"/>
          </a:p>
        </p:txBody>
      </p:sp>
      <p:sp>
        <p:nvSpPr>
          <p:cNvPr id="25" name="Meta value 4"/>
          <p:cNvSpPr txBox="1"/>
          <p:nvPr/>
        </p:nvSpPr>
        <p:spPr>
          <a:xfrm>
            <a:off x="8641080" y="43799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31 August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Reported cloud cover: 0%</a:t>
            </a:r>
            <a:endParaRPr lang="en-US" sz="1200" dirty="0"/>
          </a:p>
        </p:txBody>
      </p:sp>
      <p:sp>
        <p:nvSpPr>
          <p:cNvPr id="26" name="Meta label 5"/>
          <p:cNvSpPr txBox="1"/>
          <p:nvPr/>
        </p:nvSpPr>
        <p:spPr>
          <a:xfrm>
            <a:off x="8641080" y="4937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CONVERSION</a:t>
            </a:r>
            <a:endParaRPr lang="en-US" sz="1100" dirty="0"/>
          </a:p>
        </p:txBody>
      </p:sp>
      <p:sp>
        <p:nvSpPr>
          <p:cNvPr id="27" name="Meta value 5"/>
          <p:cNvSpPr txBox="1"/>
          <p:nvPr/>
        </p:nvSpPr>
        <p:spPr>
          <a:xfrm>
            <a:off x="8641080" y="518464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 = DN × 0.00341802 + 149.0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°C = K − 273.15; DN = 0 → nodata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571231" cy="3986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06 · EXAMPLE OUTPUTS  ·  2 OF 2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measurements to segment-level evidence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4572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AOI-B label"/>
          <p:cNvSpPr txBox="1"/>
          <p:nvPr/>
        </p:nvSpPr>
        <p:spPr>
          <a:xfrm>
            <a:off x="5394960" y="1508760"/>
            <a:ext cx="6245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AOI-B — LOW SUPPORT</a:t>
            </a:r>
            <a:endParaRPr lang="en-US" sz="1200" dirty="0"/>
          </a:p>
        </p:txBody>
      </p:sp>
      <p:graphicFrame>
        <p:nvGraphicFramePr>
          <p:cNvPr id="9" name="AOI-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10512"/>
          <a:ext cx="6245352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Segment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Median LST °C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Valid pixels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Thermal screening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B-001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24.310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Lower priority / low support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B-002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24.950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Moderate / low support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B-003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24.250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Lower priority / low support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B-004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24.690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Lower priority / low support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OI-B caveat"/>
          <p:cNvSpPr txBox="1"/>
          <p:nvPr/>
        </p:nvSpPr>
        <p:spPr>
          <a:xfrm>
            <a:off x="5394960" y="3547872"/>
            <a:ext cx="6245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Only 2–3 valid thermal pixels per segment: not equivalent to AOI-A evidence.</a:t>
            </a:r>
            <a:endParaRPr lang="en-US" sz="1200" dirty="0"/>
          </a:p>
        </p:txBody>
      </p:sp>
      <p:sp>
        <p:nvSpPr>
          <p:cNvPr id="8" name="AOI-A label"/>
          <p:cNvSpPr txBox="1"/>
          <p:nvPr/>
        </p:nvSpPr>
        <p:spPr>
          <a:xfrm>
            <a:off x="548640" y="395020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AOI-A — HIGH SUPPORT  ·  88–91 VALID PIXELS PER SEGMENT</a:t>
            </a:r>
            <a:endParaRPr lang="en-US" sz="1200" dirty="0"/>
          </a:p>
        </p:txBody>
      </p:sp>
      <p:graphicFrame>
        <p:nvGraphicFramePr>
          <p:cNvPr id="17" name="AOI-A 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24528"/>
          <a:ext cx="11091672" cy="18836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Segment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Median LST °C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Range °C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Valid pixels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Thermal screening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Sentinel-2 context</a:t>
                      </a:r>
                      <a:endParaRPr lang="en-US" sz="13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A-001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54.602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4.013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Higher priority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obvious visual change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A-002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54.197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1.025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Lower priority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obvious visual change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A-003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54.035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1.241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Lower priority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obvious visual change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A-004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54.233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2.041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91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Lower priority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obvious visual change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A-005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55.607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3.391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91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Higher priority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obvious visual change</a:t>
                      </a:r>
                      <a:endParaRPr lang="en-US" sz="1400" dirty="0"/>
                    </a:p>
                  </a:txBody>
                  <a:tcPr marT="18288" marB="18288" anchor="ctr">
                    <a:lnL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ource caption"/>
          <p:cNvSpPr txBox="1"/>
          <p:nvPr/>
        </p:nvSpPr>
        <p:spPr>
          <a:xfrm>
            <a:off x="548640" y="614476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Chart axis starts at 52 °C. Source: supplied segment statistics, Landsat 9 C2 L2 ST. Flags are relative screening outputs, not engineering verdicts.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07 · VALIDATION AND LIMITATIONS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can prove — and what we cannot</a:t>
            </a:r>
            <a:endParaRPr lang="en-US" sz="3200" dirty="0"/>
          </a:p>
        </p:txBody>
      </p:sp>
      <p:sp>
        <p:nvSpPr>
          <p:cNvPr id="4" name="Evidence header"/>
          <p:cNvSpPr txBox="1"/>
          <p:nvPr/>
        </p:nvSpPr>
        <p:spPr>
          <a:xfrm>
            <a:off x="548640" y="1508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EVIDENCE — WHAT HAS BEEN CHECKED</a:t>
            </a:r>
            <a:endParaRPr lang="en-US" sz="1200" dirty="0"/>
          </a:p>
        </p:txBody>
      </p:sp>
      <p:sp>
        <p:nvSpPr>
          <p:cNvPr id="5" name="Evidence item 1"/>
          <p:cNvSpPr/>
          <p:nvPr/>
        </p:nvSpPr>
        <p:spPr>
          <a:xfrm>
            <a:off x="548640" y="1828800"/>
            <a:ext cx="512064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Evidence mark 1"/>
          <p:cNvSpPr/>
          <p:nvPr/>
        </p:nvSpPr>
        <p:spPr>
          <a:xfrm>
            <a:off x="713232" y="203911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Evidence glyph 1"/>
          <p:cNvSpPr txBox="1"/>
          <p:nvPr/>
        </p:nvSpPr>
        <p:spPr>
          <a:xfrm>
            <a:off x="713232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Evidence text 1"/>
          <p:cNvSpPr txBox="1"/>
          <p:nvPr/>
        </p:nvSpPr>
        <p:spPr>
          <a:xfrm>
            <a:off x="1207008" y="1865376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AOI-A: five segments, 88–91 valid thermal pixels each (high support)</a:t>
            </a:r>
            <a:endParaRPr lang="en-US" sz="1300" dirty="0"/>
          </a:p>
        </p:txBody>
      </p:sp>
      <p:sp>
        <p:nvSpPr>
          <p:cNvPr id="9" name="Evidence item 2"/>
          <p:cNvSpPr/>
          <p:nvPr/>
        </p:nvSpPr>
        <p:spPr>
          <a:xfrm>
            <a:off x="548640" y="2688336"/>
            <a:ext cx="512064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Evidence mark 2"/>
          <p:cNvSpPr/>
          <p:nvPr/>
        </p:nvSpPr>
        <p:spPr>
          <a:xfrm>
            <a:off x="713232" y="289864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Evidence glyph 2"/>
          <p:cNvSpPr txBox="1"/>
          <p:nvPr/>
        </p:nvSpPr>
        <p:spPr>
          <a:xfrm>
            <a:off x="713232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Evidence text 2"/>
          <p:cNvSpPr txBox="1"/>
          <p:nvPr/>
        </p:nvSpPr>
        <p:spPr>
          <a:xfrm>
            <a:off x="1207008" y="2724912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Landsat 9 DN → Kelvin → °C conversion; DN = 0 treated as nodata</a:t>
            </a:r>
            <a:endParaRPr lang="en-US" sz="1300" dirty="0"/>
          </a:p>
        </p:txBody>
      </p:sp>
      <p:sp>
        <p:nvSpPr>
          <p:cNvPr id="13" name="Evidence item 3"/>
          <p:cNvSpPr/>
          <p:nvPr/>
        </p:nvSpPr>
        <p:spPr>
          <a:xfrm>
            <a:off x="548640" y="3547872"/>
            <a:ext cx="512064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Evidence mark 3"/>
          <p:cNvSpPr/>
          <p:nvPr/>
        </p:nvSpPr>
        <p:spPr>
          <a:xfrm>
            <a:off x="713232" y="37581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Evidence glyph 3"/>
          <p:cNvSpPr txBox="1"/>
          <p:nvPr/>
        </p:nvSpPr>
        <p:spPr>
          <a:xfrm>
            <a:off x="713232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Evidence text 3"/>
          <p:cNvSpPr txBox="1"/>
          <p:nvPr/>
        </p:nvSpPr>
        <p:spPr>
          <a:xfrm>
            <a:off x="1207008" y="3584448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Support flagged per segment: 30+ high, 10–29 medium, under 10 low</a:t>
            </a:r>
            <a:endParaRPr lang="en-US" sz="1300" dirty="0"/>
          </a:p>
        </p:txBody>
      </p:sp>
      <p:sp>
        <p:nvSpPr>
          <p:cNvPr id="17" name="Evidence item 4"/>
          <p:cNvSpPr/>
          <p:nvPr/>
        </p:nvSpPr>
        <p:spPr>
          <a:xfrm>
            <a:off x="548640" y="4407408"/>
            <a:ext cx="512064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Evidence mark 4"/>
          <p:cNvSpPr/>
          <p:nvPr/>
        </p:nvSpPr>
        <p:spPr>
          <a:xfrm>
            <a:off x="713232" y="46177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Evidence glyph 4"/>
          <p:cNvSpPr txBox="1"/>
          <p:nvPr/>
        </p:nvSpPr>
        <p:spPr>
          <a:xfrm>
            <a:off x="713232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Evidence text 4"/>
          <p:cNvSpPr txBox="1"/>
          <p:nvPr/>
        </p:nvSpPr>
        <p:spPr>
          <a:xfrm>
            <a:off x="1207008" y="4443984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Sentinel-2 L2A, 19 Sep vs 4 Oct 2026: no obvious visual road-surface change</a:t>
            </a:r>
            <a:endParaRPr lang="en-US" sz="1300" dirty="0"/>
          </a:p>
        </p:txBody>
      </p:sp>
      <p:sp>
        <p:nvSpPr>
          <p:cNvPr id="21" name="Evidence item 5"/>
          <p:cNvSpPr/>
          <p:nvPr/>
        </p:nvSpPr>
        <p:spPr>
          <a:xfrm>
            <a:off x="548640" y="5266944"/>
            <a:ext cx="5120640" cy="768096"/>
          </a:xfrm>
          <a:prstGeom prst="roundRect">
            <a:avLst>
              <a:gd name="adj" fmla="val 952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Evidence mark 5"/>
          <p:cNvSpPr/>
          <p:nvPr/>
        </p:nvSpPr>
        <p:spPr>
          <a:xfrm>
            <a:off x="713232" y="547725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Evidence glyph 5"/>
          <p:cNvSpPr txBox="1"/>
          <p:nvPr/>
        </p:nvSpPr>
        <p:spPr>
          <a:xfrm>
            <a:off x="713232" y="5477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Evidence text 5"/>
          <p:cNvSpPr txBox="1"/>
          <p:nvPr/>
        </p:nvSpPr>
        <p:spPr>
          <a:xfrm>
            <a:off x="1207008" y="5303520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AOI-B flagged low support: only 2–3 valid thermal pixels per segment</a:t>
            </a:r>
            <a:endParaRPr lang="en-US" sz="1300" dirty="0"/>
          </a:p>
        </p:txBody>
      </p:sp>
      <p:sp>
        <p:nvSpPr>
          <p:cNvPr id="25" name="Limitation header"/>
          <p:cNvSpPr txBox="1"/>
          <p:nvPr/>
        </p:nvSpPr>
        <p:spPr>
          <a:xfrm>
            <a:off x="5989320" y="1508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LIMITATION  →  WHAT THABAT IS DESIGNED TO DO NEXT</a:t>
            </a:r>
            <a:endParaRPr lang="en-US" sz="1200" dirty="0"/>
          </a:p>
        </p:txBody>
      </p:sp>
      <p:sp>
        <p:nvSpPr>
          <p:cNvPr id="26" name="Limitation item 1"/>
          <p:cNvSpPr/>
          <p:nvPr/>
        </p:nvSpPr>
        <p:spPr>
          <a:xfrm>
            <a:off x="5989320" y="1828800"/>
            <a:ext cx="565099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Limitation 1"/>
          <p:cNvSpPr txBox="1"/>
          <p:nvPr/>
        </p:nvSpPr>
        <p:spPr>
          <a:xfrm>
            <a:off x="6172200" y="18928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Thermal anomaly is not proof of pavement damage</a:t>
            </a:r>
            <a:endParaRPr lang="en-US" sz="1400" dirty="0"/>
          </a:p>
        </p:txBody>
      </p:sp>
      <p:sp>
        <p:nvSpPr>
          <p:cNvPr id="28" name="Limitation next 1"/>
          <p:cNvSpPr txBox="1"/>
          <p:nvPr/>
        </p:nvSpPr>
        <p:spPr>
          <a:xfrm>
            <a:off x="6172200" y="21671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 </a:t>
            </a:r>
            <a:r>
              <a:rPr lang="en-US" sz="1300" dirty="0">
                <a:solidFill>
                  <a:schemeClr val="accent1"/>
                </a:solidFill>
              </a:rPr>
              <a:t>Screens for inspection priority only</a:t>
            </a:r>
            <a:endParaRPr lang="en-US" sz="1300" dirty="0"/>
          </a:p>
        </p:txBody>
      </p:sp>
      <p:sp>
        <p:nvSpPr>
          <p:cNvPr id="29" name="Limitation item 2"/>
          <p:cNvSpPr/>
          <p:nvPr/>
        </p:nvSpPr>
        <p:spPr>
          <a:xfrm>
            <a:off x="5989320" y="2542032"/>
            <a:ext cx="565099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Limitation 2"/>
          <p:cNvSpPr txBox="1"/>
          <p:nvPr/>
        </p:nvSpPr>
        <p:spPr>
          <a:xfrm>
            <a:off x="6172200" y="2606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AOI-B has only 2–3 valid pixels per segment</a:t>
            </a:r>
            <a:endParaRPr lang="en-US" sz="1400" dirty="0"/>
          </a:p>
        </p:txBody>
      </p:sp>
      <p:sp>
        <p:nvSpPr>
          <p:cNvPr id="31" name="Limitation next 2"/>
          <p:cNvSpPr txBox="1"/>
          <p:nvPr/>
        </p:nvSpPr>
        <p:spPr>
          <a:xfrm>
            <a:off x="6172200" y="28803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 </a:t>
            </a:r>
            <a:r>
              <a:rPr lang="en-US" sz="1300" dirty="0">
                <a:solidFill>
                  <a:schemeClr val="accent1"/>
                </a:solidFill>
              </a:rPr>
              <a:t>Low support; needs finer thermal / VHR data</a:t>
            </a:r>
            <a:endParaRPr lang="en-US" sz="1300" dirty="0"/>
          </a:p>
        </p:txBody>
      </p:sp>
      <p:sp>
        <p:nvSpPr>
          <p:cNvPr id="32" name="Limitation item 3"/>
          <p:cNvSpPr/>
          <p:nvPr/>
        </p:nvSpPr>
        <p:spPr>
          <a:xfrm>
            <a:off x="5989320" y="3255264"/>
            <a:ext cx="565099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Limitation 3"/>
          <p:cNvSpPr txBox="1"/>
          <p:nvPr/>
        </p:nvSpPr>
        <p:spPr>
          <a:xfrm>
            <a:off x="6172200" y="33192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Sentinel-2 is a visual context check</a:t>
            </a:r>
            <a:endParaRPr lang="en-US" sz="1400" dirty="0"/>
          </a:p>
        </p:txBody>
      </p:sp>
      <p:sp>
        <p:nvSpPr>
          <p:cNvPr id="34" name="Limitation next 3"/>
          <p:cNvSpPr txBox="1"/>
          <p:nvPr/>
        </p:nvSpPr>
        <p:spPr>
          <a:xfrm>
            <a:off x="6172200" y="3593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 </a:t>
            </a:r>
            <a:r>
              <a:rPr lang="en-US" sz="1300" dirty="0">
                <a:solidFill>
                  <a:schemeClr val="accent1"/>
                </a:solidFill>
              </a:rPr>
              <a:t>Not fine-defect detection</a:t>
            </a:r>
            <a:endParaRPr lang="en-US" sz="1300" dirty="0"/>
          </a:p>
        </p:txBody>
      </p:sp>
      <p:sp>
        <p:nvSpPr>
          <p:cNvPr id="35" name="Limitation item 4"/>
          <p:cNvSpPr/>
          <p:nvPr/>
        </p:nvSpPr>
        <p:spPr>
          <a:xfrm>
            <a:off x="5989320" y="3968496"/>
            <a:ext cx="565099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Limitation 4"/>
          <p:cNvSpPr txBox="1"/>
          <p:nvPr/>
        </p:nvSpPr>
        <p:spPr>
          <a:xfrm>
            <a:off x="6172200" y="40325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Hyperspectral, rainfall, VHR not in results yet</a:t>
            </a:r>
            <a:endParaRPr lang="en-US" sz="1400" dirty="0"/>
          </a:p>
        </p:txBody>
      </p:sp>
      <p:sp>
        <p:nvSpPr>
          <p:cNvPr id="37" name="Limitation next 4"/>
          <p:cNvSpPr txBox="1"/>
          <p:nvPr/>
        </p:nvSpPr>
        <p:spPr>
          <a:xfrm>
            <a:off x="6172200" y="43068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 </a:t>
            </a:r>
            <a:r>
              <a:rPr lang="en-US" sz="1300" dirty="0">
                <a:solidFill>
                  <a:schemeClr val="accent1"/>
                </a:solidFill>
              </a:rPr>
              <a:t>Conditional on coverage and usage rights</a:t>
            </a:r>
            <a:endParaRPr lang="en-US" sz="1300" dirty="0"/>
          </a:p>
        </p:txBody>
      </p:sp>
      <p:sp>
        <p:nvSpPr>
          <p:cNvPr id="38" name="Limitation item 5"/>
          <p:cNvSpPr/>
          <p:nvPr/>
        </p:nvSpPr>
        <p:spPr>
          <a:xfrm>
            <a:off x="5989320" y="4681728"/>
            <a:ext cx="565099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Limitation 5"/>
          <p:cNvSpPr txBox="1"/>
          <p:nvPr/>
        </p:nvSpPr>
        <p:spPr>
          <a:xfrm>
            <a:off x="6172200" y="4745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Support thresholds are not calibrated confidence</a:t>
            </a:r>
            <a:endParaRPr lang="en-US" sz="1400" dirty="0"/>
          </a:p>
        </p:txBody>
      </p:sp>
      <p:sp>
        <p:nvSpPr>
          <p:cNvPr id="40" name="Limitation next 5"/>
          <p:cNvSpPr txBox="1"/>
          <p:nvPr/>
        </p:nvSpPr>
        <p:spPr>
          <a:xfrm>
            <a:off x="6172200" y="50200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 </a:t>
            </a:r>
            <a:r>
              <a:rPr lang="en-US" sz="1300" dirty="0">
                <a:solidFill>
                  <a:schemeClr val="accent1"/>
                </a:solidFill>
              </a:rPr>
              <a:t>Calibrate against field data</a:t>
            </a:r>
            <a:endParaRPr lang="en-US" sz="1300" dirty="0"/>
          </a:p>
        </p:txBody>
      </p:sp>
      <p:sp>
        <p:nvSpPr>
          <p:cNvPr id="41" name="Limitation item 6"/>
          <p:cNvSpPr/>
          <p:nvPr/>
        </p:nvSpPr>
        <p:spPr>
          <a:xfrm>
            <a:off x="5989320" y="5394960"/>
            <a:ext cx="565099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Limitation 6"/>
          <p:cNvSpPr txBox="1"/>
          <p:nvPr/>
        </p:nvSpPr>
        <p:spPr>
          <a:xfrm>
            <a:off x="6172200" y="54589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field validation yet</a:t>
            </a:r>
            <a:endParaRPr lang="en-US" sz="1400" dirty="0"/>
          </a:p>
        </p:txBody>
      </p:sp>
      <p:sp>
        <p:nvSpPr>
          <p:cNvPr id="43" name="Limitation next 6"/>
          <p:cNvSpPr txBox="1"/>
          <p:nvPr/>
        </p:nvSpPr>
        <p:spPr>
          <a:xfrm>
            <a:off x="6172200" y="57332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 </a:t>
            </a:r>
            <a:r>
              <a:rPr lang="en-US" sz="1300" dirty="0">
                <a:solidFill>
                  <a:schemeClr val="accent1"/>
                </a:solidFill>
              </a:rPr>
              <a:t>Compare with inspection and maintenance records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08 · IMPACT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THABAT matters</a:t>
            </a:r>
            <a:endParaRPr lang="en-US" sz="3200" dirty="0"/>
          </a:p>
        </p:txBody>
      </p:sp>
      <p:sp>
        <p:nvSpPr>
          <p:cNvPr id="4" name="Impact node 1"/>
          <p:cNvSpPr/>
          <p:nvPr/>
        </p:nvSpPr>
        <p:spPr>
          <a:xfrm>
            <a:off x="54864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E6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Impact node label 1"/>
          <p:cNvSpPr txBox="1"/>
          <p:nvPr/>
        </p:nvSpPr>
        <p:spPr>
          <a:xfrm>
            <a:off x="640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Satellite coverage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2542032" y="1920240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Impact node 2"/>
          <p:cNvSpPr/>
          <p:nvPr/>
        </p:nvSpPr>
        <p:spPr>
          <a:xfrm>
            <a:off x="283464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863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Impact node label 2"/>
          <p:cNvSpPr txBox="1"/>
          <p:nvPr/>
        </p:nvSpPr>
        <p:spPr>
          <a:xfrm>
            <a:off x="2926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Scalable screening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4828032" y="1920240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Impact node 3"/>
          <p:cNvSpPr/>
          <p:nvPr/>
        </p:nvSpPr>
        <p:spPr>
          <a:xfrm>
            <a:off x="512064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55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Impact node label 3"/>
          <p:cNvSpPr txBox="1"/>
          <p:nvPr/>
        </p:nvSpPr>
        <p:spPr>
          <a:xfrm>
            <a:off x="5212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Better prioritisation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7114032" y="1920240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Impact node 4"/>
          <p:cNvSpPr/>
          <p:nvPr/>
        </p:nvSpPr>
        <p:spPr>
          <a:xfrm>
            <a:off x="740664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485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Impact node label 4"/>
          <p:cNvSpPr txBox="1"/>
          <p:nvPr/>
        </p:nvSpPr>
        <p:spPr>
          <a:xfrm>
            <a:off x="7498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Targeted inspection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9400032" y="1920240"/>
            <a:ext cx="219456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Impact node 5"/>
          <p:cNvSpPr/>
          <p:nvPr/>
        </p:nvSpPr>
        <p:spPr>
          <a:xfrm>
            <a:off x="9692640" y="16002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D3B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Impact node label 5"/>
          <p:cNvSpPr txBox="1"/>
          <p:nvPr/>
        </p:nvSpPr>
        <p:spPr>
          <a:xfrm>
            <a:off x="9784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Proactive maintenance</a:t>
            </a:r>
            <a:endParaRPr lang="en-US" sz="1600" dirty="0"/>
          </a:p>
        </p:txBody>
      </p:sp>
      <p:sp>
        <p:nvSpPr>
          <p:cNvPr id="18" name="Value label"/>
          <p:cNvSpPr txBox="1"/>
          <p:nvPr/>
        </p:nvSpPr>
        <p:spPr>
          <a:xfrm>
            <a:off x="548640" y="2834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POTENTIAL VALUE</a:t>
            </a:r>
            <a:endParaRPr lang="en-US" sz="1200" dirty="0"/>
          </a:p>
        </p:txBody>
      </p:sp>
      <p:sp>
        <p:nvSpPr>
          <p:cNvPr id="19" name="Value card 1"/>
          <p:cNvSpPr/>
          <p:nvPr/>
        </p:nvSpPr>
        <p:spPr>
          <a:xfrm>
            <a:off x="548640" y="32004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Value title 1"/>
          <p:cNvSpPr txBox="1"/>
          <p:nvPr/>
        </p:nvSpPr>
        <p:spPr>
          <a:xfrm>
            <a:off x="77724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Prioritise inspections</a:t>
            </a:r>
            <a:endParaRPr lang="en-US" sz="1700" dirty="0"/>
          </a:p>
        </p:txBody>
      </p:sp>
      <p:sp>
        <p:nvSpPr>
          <p:cNvPr id="21" name="Value sub 1"/>
          <p:cNvSpPr txBox="1"/>
          <p:nvPr/>
        </p:nvSpPr>
        <p:spPr>
          <a:xfrm>
            <a:off x="77724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Rank segments by evidence</a:t>
            </a:r>
            <a:endParaRPr lang="en-US" sz="1200" dirty="0"/>
          </a:p>
        </p:txBody>
      </p:sp>
      <p:sp>
        <p:nvSpPr>
          <p:cNvPr id="22" name="Value card 2"/>
          <p:cNvSpPr/>
          <p:nvPr/>
        </p:nvSpPr>
        <p:spPr>
          <a:xfrm>
            <a:off x="4311396" y="32004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Value title 2"/>
          <p:cNvSpPr txBox="1"/>
          <p:nvPr/>
        </p:nvSpPr>
        <p:spPr>
          <a:xfrm>
            <a:off x="4539996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Reduce unnecessary inspection effort</a:t>
            </a:r>
            <a:endParaRPr lang="en-US" sz="1700" dirty="0"/>
          </a:p>
        </p:txBody>
      </p:sp>
      <p:sp>
        <p:nvSpPr>
          <p:cNvPr id="24" name="Value sub 2"/>
          <p:cNvSpPr txBox="1"/>
          <p:nvPr/>
        </p:nvSpPr>
        <p:spPr>
          <a:xfrm>
            <a:off x="4539996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Potential benefit, to be validated</a:t>
            </a:r>
            <a:endParaRPr lang="en-US" sz="1200" dirty="0"/>
          </a:p>
        </p:txBody>
      </p:sp>
      <p:sp>
        <p:nvSpPr>
          <p:cNvPr id="25" name="Value card 3"/>
          <p:cNvSpPr/>
          <p:nvPr/>
        </p:nvSpPr>
        <p:spPr>
          <a:xfrm>
            <a:off x="8074152" y="32004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Value title 3"/>
          <p:cNvSpPr txBox="1"/>
          <p:nvPr/>
        </p:nvSpPr>
        <p:spPr>
          <a:xfrm>
            <a:off x="8302752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Identify stressed corridors</a:t>
            </a:r>
            <a:endParaRPr lang="en-US" sz="1700" dirty="0"/>
          </a:p>
        </p:txBody>
      </p:sp>
      <p:sp>
        <p:nvSpPr>
          <p:cNvPr id="27" name="Value sub 3"/>
          <p:cNvSpPr txBox="1"/>
          <p:nvPr/>
        </p:nvSpPr>
        <p:spPr>
          <a:xfrm>
            <a:off x="8302752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Spot environmentally stressed road corridors</a:t>
            </a:r>
            <a:endParaRPr lang="en-US" sz="1200" dirty="0"/>
          </a:p>
        </p:txBody>
      </p:sp>
      <p:sp>
        <p:nvSpPr>
          <p:cNvPr id="28" name="Value card 4"/>
          <p:cNvSpPr/>
          <p:nvPr/>
        </p:nvSpPr>
        <p:spPr>
          <a:xfrm>
            <a:off x="548640" y="45720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Value title 4"/>
          <p:cNvSpPr txBox="1"/>
          <p:nvPr/>
        </p:nvSpPr>
        <p:spPr>
          <a:xfrm>
            <a:off x="77724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Support proactive maintenance</a:t>
            </a:r>
            <a:endParaRPr lang="en-US" sz="1700" dirty="0"/>
          </a:p>
        </p:txBody>
      </p:sp>
      <p:sp>
        <p:nvSpPr>
          <p:cNvPr id="30" name="Value sub 4"/>
          <p:cNvSpPr txBox="1"/>
          <p:nvPr/>
        </p:nvSpPr>
        <p:spPr>
          <a:xfrm>
            <a:off x="77724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Shift from reactive toward proactive</a:t>
            </a:r>
            <a:endParaRPr lang="en-US" sz="1200" dirty="0"/>
          </a:p>
        </p:txBody>
      </p:sp>
      <p:sp>
        <p:nvSpPr>
          <p:cNvPr id="31" name="Value card 5"/>
          <p:cNvSpPr/>
          <p:nvPr/>
        </p:nvSpPr>
        <p:spPr>
          <a:xfrm>
            <a:off x="4311396" y="45720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Value title 5"/>
          <p:cNvSpPr txBox="1"/>
          <p:nvPr/>
        </p:nvSpPr>
        <p:spPr>
          <a:xfrm>
            <a:off x="4539996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Create a scalable evidence layer</a:t>
            </a:r>
            <a:endParaRPr lang="en-US" sz="1700" dirty="0"/>
          </a:p>
        </p:txBody>
      </p:sp>
      <p:sp>
        <p:nvSpPr>
          <p:cNvPr id="33" name="Value sub 5"/>
          <p:cNvSpPr txBox="1"/>
          <p:nvPr/>
        </p:nvSpPr>
        <p:spPr>
          <a:xfrm>
            <a:off x="4539996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 common layer for road authorities</a:t>
            </a:r>
            <a:endParaRPr lang="en-US" sz="1200" dirty="0"/>
          </a:p>
        </p:txBody>
      </p:sp>
      <p:sp>
        <p:nvSpPr>
          <p:cNvPr id="34" name="Value card 6"/>
          <p:cNvSpPr/>
          <p:nvPr/>
        </p:nvSpPr>
        <p:spPr>
          <a:xfrm>
            <a:off x="8074152" y="45720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Value title 6"/>
          <p:cNvSpPr txBox="1"/>
          <p:nvPr/>
        </p:nvSpPr>
        <p:spPr>
          <a:xfrm>
            <a:off x="8302752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Allocate resources more intelligently</a:t>
            </a:r>
            <a:endParaRPr lang="en-US" sz="1700" dirty="0"/>
          </a:p>
        </p:txBody>
      </p:sp>
      <p:sp>
        <p:nvSpPr>
          <p:cNvPr id="36" name="Value sub 6"/>
          <p:cNvSpPr txBox="1"/>
          <p:nvPr/>
        </p:nvSpPr>
        <p:spPr>
          <a:xfrm>
            <a:off x="8302752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Targeted, explainable decisions</a:t>
            </a:r>
            <a:endParaRPr lang="en-US" sz="1200" dirty="0"/>
          </a:p>
        </p:txBody>
      </p:sp>
      <p:sp>
        <p:nvSpPr>
          <p:cNvPr id="37" name="Impact caveat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Qualitative impact only — no savings or percentages are claimed until validated.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eyebrow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09 · NEXT STEPS FOR INCUBATION</a:t>
            </a:r>
            <a:endParaRPr lang="en-US" sz="1100" dirty="0"/>
          </a:p>
        </p:txBody>
      </p:sp>
      <p:sp>
        <p:nvSpPr>
          <p:cNvPr id="3" name="Text 1"/>
          <p:cNvSpPr txBox="1"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PoC to operational road intelligence</a:t>
            </a:r>
            <a:endParaRPr lang="en-US" sz="3200" dirty="0"/>
          </a:p>
        </p:txBody>
      </p:sp>
      <p:sp>
        <p:nvSpPr>
          <p:cNvPr id="4" name="Step card 1"/>
          <p:cNvSpPr/>
          <p:nvPr/>
        </p:nvSpPr>
        <p:spPr>
          <a:xfrm>
            <a:off x="548640" y="155448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ag 1"/>
          <p:cNvSpPr/>
          <p:nvPr/>
        </p:nvSpPr>
        <p:spPr>
          <a:xfrm>
            <a:off x="685800" y="1691640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ag label 1"/>
          <p:cNvSpPr txBox="1"/>
          <p:nvPr/>
        </p:nvSpPr>
        <p:spPr>
          <a:xfrm>
            <a:off x="68580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NOW</a:t>
            </a:r>
            <a:endParaRPr lang="en-US" sz="1000" dirty="0"/>
          </a:p>
        </p:txBody>
      </p:sp>
      <p:sp>
        <p:nvSpPr>
          <p:cNvPr id="7" name="Next title 1"/>
          <p:cNvSpPr txBox="1"/>
          <p:nvPr/>
        </p:nvSpPr>
        <p:spPr>
          <a:xfrm>
            <a:off x="685800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Working thermal-screening PoC</a:t>
            </a:r>
            <a:endParaRPr lang="en-US" sz="1400" dirty="0"/>
          </a:p>
        </p:txBody>
      </p:sp>
      <p:sp>
        <p:nvSpPr>
          <p:cNvPr id="8" name="Next sub 1"/>
          <p:cNvSpPr txBox="1"/>
          <p:nvPr/>
        </p:nvSpPr>
        <p:spPr>
          <a:xfrm>
            <a:off x="6858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AOI-A strong; AOI-B low support</a:t>
            </a:r>
            <a:endParaRPr lang="en-US" sz="1100" dirty="0"/>
          </a:p>
        </p:txBody>
      </p:sp>
      <p:sp>
        <p:nvSpPr>
          <p:cNvPr id="9" name="Step card 2"/>
          <p:cNvSpPr/>
          <p:nvPr/>
        </p:nvSpPr>
        <p:spPr>
          <a:xfrm>
            <a:off x="2419502" y="155448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ag 2"/>
          <p:cNvSpPr/>
          <p:nvPr/>
        </p:nvSpPr>
        <p:spPr>
          <a:xfrm>
            <a:off x="2556662" y="1691640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ag label 2"/>
          <p:cNvSpPr txBox="1"/>
          <p:nvPr/>
        </p:nvSpPr>
        <p:spPr>
          <a:xfrm>
            <a:off x="2556662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NEXT</a:t>
            </a:r>
            <a:endParaRPr lang="en-US" sz="1000" dirty="0"/>
          </a:p>
        </p:txBody>
      </p:sp>
      <p:sp>
        <p:nvSpPr>
          <p:cNvPr id="12" name="Next title 2"/>
          <p:cNvSpPr txBox="1"/>
          <p:nvPr/>
        </p:nvSpPr>
        <p:spPr>
          <a:xfrm>
            <a:off x="2556662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Better pavement representation</a:t>
            </a:r>
            <a:endParaRPr lang="en-US" sz="1400" dirty="0"/>
          </a:p>
        </p:txBody>
      </p:sp>
      <p:sp>
        <p:nvSpPr>
          <p:cNvPr id="13" name="Next sub 2"/>
          <p:cNvSpPr txBox="1"/>
          <p:nvPr/>
        </p:nvSpPr>
        <p:spPr>
          <a:xfrm>
            <a:off x="2556662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VHR, or Satellite 813 if provided</a:t>
            </a:r>
            <a:endParaRPr lang="en-US" sz="1100" dirty="0"/>
          </a:p>
        </p:txBody>
      </p:sp>
      <p:sp>
        <p:nvSpPr>
          <p:cNvPr id="14" name="Step card 3"/>
          <p:cNvSpPr/>
          <p:nvPr/>
        </p:nvSpPr>
        <p:spPr>
          <a:xfrm>
            <a:off x="4290365" y="155448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ag 3"/>
          <p:cNvSpPr/>
          <p:nvPr/>
        </p:nvSpPr>
        <p:spPr>
          <a:xfrm>
            <a:off x="4427525" y="1691640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ag label 3"/>
          <p:cNvSpPr txBox="1"/>
          <p:nvPr/>
        </p:nvSpPr>
        <p:spPr>
          <a:xfrm>
            <a:off x="4427525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NEXT</a:t>
            </a:r>
            <a:endParaRPr lang="en-US" sz="1000" dirty="0"/>
          </a:p>
        </p:txBody>
      </p:sp>
      <p:sp>
        <p:nvSpPr>
          <p:cNvPr id="17" name="Next title 3"/>
          <p:cNvSpPr txBox="1"/>
          <p:nvPr/>
        </p:nvSpPr>
        <p:spPr>
          <a:xfrm>
            <a:off x="4427525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Environmental fusion</a:t>
            </a:r>
            <a:endParaRPr lang="en-US" sz="1400" dirty="0"/>
          </a:p>
        </p:txBody>
      </p:sp>
      <p:sp>
        <p:nvSpPr>
          <p:cNvPr id="18" name="Next sub 3"/>
          <p:cNvSpPr txBox="1"/>
          <p:nvPr/>
        </p:nvSpPr>
        <p:spPr>
          <a:xfrm>
            <a:off x="4427525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Rainfall and event history</a:t>
            </a:r>
            <a:endParaRPr lang="en-US" sz="1100" dirty="0"/>
          </a:p>
        </p:txBody>
      </p:sp>
      <p:sp>
        <p:nvSpPr>
          <p:cNvPr id="19" name="Step card 4"/>
          <p:cNvSpPr/>
          <p:nvPr/>
        </p:nvSpPr>
        <p:spPr>
          <a:xfrm>
            <a:off x="6161227" y="155448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ag 4"/>
          <p:cNvSpPr/>
          <p:nvPr/>
        </p:nvSpPr>
        <p:spPr>
          <a:xfrm>
            <a:off x="6298387" y="1691640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ag label 4"/>
          <p:cNvSpPr txBox="1"/>
          <p:nvPr/>
        </p:nvSpPr>
        <p:spPr>
          <a:xfrm>
            <a:off x="6298387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NEXT</a:t>
            </a:r>
            <a:endParaRPr lang="en-US" sz="1000" dirty="0"/>
          </a:p>
        </p:txBody>
      </p:sp>
      <p:sp>
        <p:nvSpPr>
          <p:cNvPr id="22" name="Next title 4"/>
          <p:cNvSpPr txBox="1"/>
          <p:nvPr/>
        </p:nvSpPr>
        <p:spPr>
          <a:xfrm>
            <a:off x="6298387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Hyperspectral fusion</a:t>
            </a:r>
            <a:endParaRPr lang="en-US" sz="1400" dirty="0"/>
          </a:p>
        </p:txBody>
      </p:sp>
      <p:sp>
        <p:nvSpPr>
          <p:cNvPr id="23" name="Next sub 4"/>
          <p:cNvSpPr txBox="1"/>
          <p:nvPr/>
        </p:nvSpPr>
        <p:spPr>
          <a:xfrm>
            <a:off x="6298387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If EnMAP / Tanager cover the AOI</a:t>
            </a:r>
            <a:endParaRPr lang="en-US" sz="1100" dirty="0"/>
          </a:p>
        </p:txBody>
      </p:sp>
      <p:sp>
        <p:nvSpPr>
          <p:cNvPr id="24" name="Step card 5"/>
          <p:cNvSpPr/>
          <p:nvPr/>
        </p:nvSpPr>
        <p:spPr>
          <a:xfrm>
            <a:off x="8032090" y="155448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ag 5"/>
          <p:cNvSpPr/>
          <p:nvPr/>
        </p:nvSpPr>
        <p:spPr>
          <a:xfrm>
            <a:off x="8169250" y="1691640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ag label 5"/>
          <p:cNvSpPr txBox="1"/>
          <p:nvPr/>
        </p:nvSpPr>
        <p:spPr>
          <a:xfrm>
            <a:off x="816925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NEXT</a:t>
            </a:r>
            <a:endParaRPr lang="en-US" sz="1000" dirty="0"/>
          </a:p>
        </p:txBody>
      </p:sp>
      <p:sp>
        <p:nvSpPr>
          <p:cNvPr id="27" name="Next title 5"/>
          <p:cNvSpPr txBox="1"/>
          <p:nvPr/>
        </p:nvSpPr>
        <p:spPr>
          <a:xfrm>
            <a:off x="8169250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Field validation</a:t>
            </a:r>
            <a:endParaRPr lang="en-US" sz="1400" dirty="0"/>
          </a:p>
        </p:txBody>
      </p:sp>
      <p:sp>
        <p:nvSpPr>
          <p:cNvPr id="28" name="Next sub 5"/>
          <p:cNvSpPr txBox="1"/>
          <p:nvPr/>
        </p:nvSpPr>
        <p:spPr>
          <a:xfrm>
            <a:off x="816925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Inspection and maintenance records</a:t>
            </a:r>
            <a:endParaRPr lang="en-US" sz="1100" dirty="0"/>
          </a:p>
        </p:txBody>
      </p:sp>
      <p:sp>
        <p:nvSpPr>
          <p:cNvPr id="29" name="Step card 6"/>
          <p:cNvSpPr/>
          <p:nvPr/>
        </p:nvSpPr>
        <p:spPr>
          <a:xfrm>
            <a:off x="9902952" y="155448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ag 6"/>
          <p:cNvSpPr/>
          <p:nvPr/>
        </p:nvSpPr>
        <p:spPr>
          <a:xfrm>
            <a:off x="10040112" y="1691640"/>
            <a:ext cx="86868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ag label 6"/>
          <p:cNvSpPr txBox="1"/>
          <p:nvPr/>
        </p:nvSpPr>
        <p:spPr>
          <a:xfrm>
            <a:off x="10040112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FUTURE</a:t>
            </a:r>
            <a:endParaRPr lang="en-US" sz="1000" dirty="0"/>
          </a:p>
        </p:txBody>
      </p:sp>
      <p:sp>
        <p:nvSpPr>
          <p:cNvPr id="32" name="Next title 6"/>
          <p:cNvSpPr txBox="1"/>
          <p:nvPr/>
        </p:nvSpPr>
        <p:spPr>
          <a:xfrm>
            <a:off x="10040112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Scale and operational dashboard</a:t>
            </a:r>
            <a:endParaRPr lang="en-US" sz="1400" dirty="0"/>
          </a:p>
        </p:txBody>
      </p:sp>
      <p:sp>
        <p:nvSpPr>
          <p:cNvPr id="33" name="Next sub 6"/>
          <p:cNvSpPr txBox="1"/>
          <p:nvPr/>
        </p:nvSpPr>
        <p:spPr>
          <a:xfrm>
            <a:off x="10040112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More corridors; automated ingestion</a:t>
            </a:r>
            <a:endParaRPr lang="en-US" sz="1100" dirty="0"/>
          </a:p>
        </p:txBody>
      </p:sp>
      <p:sp>
        <p:nvSpPr>
          <p:cNvPr id="34" name="Incubation label"/>
          <p:cNvSpPr txBox="1"/>
          <p:nvPr/>
        </p:nvSpPr>
        <p:spPr>
          <a:xfrm>
            <a:off x="548640" y="3931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INCUBATION POTENTIAL</a:t>
            </a:r>
            <a:endParaRPr lang="en-US" sz="1200" dirty="0"/>
          </a:p>
        </p:txBody>
      </p:sp>
      <p:sp>
        <p:nvSpPr>
          <p:cNvPr id="35" name="Incubation chip 1"/>
          <p:cNvSpPr/>
          <p:nvPr/>
        </p:nvSpPr>
        <p:spPr>
          <a:xfrm>
            <a:off x="548640" y="42519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Incubation label 1"/>
          <p:cNvSpPr txBox="1"/>
          <p:nvPr/>
        </p:nvSpPr>
        <p:spPr>
          <a:xfrm>
            <a:off x="640080" y="4251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Additional road corridors</a:t>
            </a:r>
            <a:endParaRPr lang="en-US" sz="1400" dirty="0"/>
          </a:p>
        </p:txBody>
      </p:sp>
      <p:sp>
        <p:nvSpPr>
          <p:cNvPr id="37" name="Incubation chip 2"/>
          <p:cNvSpPr/>
          <p:nvPr/>
        </p:nvSpPr>
        <p:spPr>
          <a:xfrm>
            <a:off x="2795778" y="42519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Incubation label 2"/>
          <p:cNvSpPr txBox="1"/>
          <p:nvPr/>
        </p:nvSpPr>
        <p:spPr>
          <a:xfrm>
            <a:off x="2887218" y="4251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Larger datasets</a:t>
            </a:r>
            <a:endParaRPr lang="en-US" sz="1400" dirty="0"/>
          </a:p>
        </p:txBody>
      </p:sp>
      <p:sp>
        <p:nvSpPr>
          <p:cNvPr id="39" name="Incubation chip 3"/>
          <p:cNvSpPr/>
          <p:nvPr/>
        </p:nvSpPr>
        <p:spPr>
          <a:xfrm>
            <a:off x="5042916" y="42519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Incubation label 3"/>
          <p:cNvSpPr txBox="1"/>
          <p:nvPr/>
        </p:nvSpPr>
        <p:spPr>
          <a:xfrm>
            <a:off x="5134356" y="4251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Automated data ingestion</a:t>
            </a:r>
            <a:endParaRPr lang="en-US" sz="1400" dirty="0"/>
          </a:p>
        </p:txBody>
      </p:sp>
      <p:sp>
        <p:nvSpPr>
          <p:cNvPr id="41" name="Incubation chip 4"/>
          <p:cNvSpPr/>
          <p:nvPr/>
        </p:nvSpPr>
        <p:spPr>
          <a:xfrm>
            <a:off x="7290054" y="42519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Incubation label 4"/>
          <p:cNvSpPr txBox="1"/>
          <p:nvPr/>
        </p:nvSpPr>
        <p:spPr>
          <a:xfrm>
            <a:off x="7381494" y="4251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Stronger validation</a:t>
            </a:r>
            <a:endParaRPr lang="en-US" sz="1400" dirty="0"/>
          </a:p>
        </p:txBody>
      </p:sp>
      <p:sp>
        <p:nvSpPr>
          <p:cNvPr id="43" name="Incubation chip 5"/>
          <p:cNvSpPr/>
          <p:nvPr/>
        </p:nvSpPr>
        <p:spPr>
          <a:xfrm>
            <a:off x="9537192" y="42519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Incubation label 5"/>
          <p:cNvSpPr txBox="1"/>
          <p:nvPr/>
        </p:nvSpPr>
        <p:spPr>
          <a:xfrm>
            <a:off x="9628632" y="4251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Deployment with road authorities</a:t>
            </a:r>
            <a:endParaRPr lang="en-US" sz="1400" dirty="0"/>
          </a:p>
        </p:txBody>
      </p:sp>
      <p:sp>
        <p:nvSpPr>
          <p:cNvPr id="45" name="Closing statement block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Closing statement"/>
          <p:cNvSpPr txBox="1"/>
          <p:nvPr/>
        </p:nvSpPr>
        <p:spPr>
          <a:xfrm>
            <a:off x="914400" y="516636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THABAT turns Earth-observation data into a smarter starting point for road inspection.</a:t>
            </a:r>
            <a:endParaRPr lang="en-US" sz="2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BAT">
  <a:themeElements>
    <a:clrScheme name="THABAT">
      <a:dk1>
        <a:srgbClr val="1E1E1E"/>
      </a:dk1>
      <a:lt1>
        <a:srgbClr val="FFFFFF"/>
      </a:lt1>
      <a:dk2>
        <a:srgbClr val="0D3B45"/>
      </a:dk2>
      <a:lt2>
        <a:srgbClr val="F5F1E8"/>
      </a:lt2>
      <a:accent1>
        <a:srgbClr val="2E6F6E"/>
      </a:accent1>
      <a:accent2>
        <a:srgbClr val="D4B483"/>
      </a:accent2>
      <a:accent3>
        <a:srgbClr val="5F737A"/>
      </a:accent3>
      <a:accent4>
        <a:srgbClr val="A8C5C3"/>
      </a:accent4>
      <a:accent5>
        <a:srgbClr val="8A6D3B"/>
      </a:accent5>
      <a:accent6>
        <a:srgbClr val="E8DFC9"/>
      </a:accent6>
      <a:hlink>
        <a:srgbClr val="2E6F6E"/>
      </a:hlink>
      <a:folHlink>
        <a:srgbClr val="5F737A"/>
      </a:folHlink>
    </a:clrScheme>
    <a:fontScheme name="THAB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1837</Words>
  <Application>Microsoft Office PowerPoint</Application>
  <PresentationFormat>Widescreen</PresentationFormat>
  <Paragraphs>333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THABAT</vt:lpstr>
      <vt:lpstr>PowerPoint Presentation</vt:lpstr>
      <vt:lpstr>Road health is monitored reactively</vt:lpstr>
      <vt:lpstr>From satellite evidence to inspection priority</vt:lpstr>
      <vt:lpstr>Multi-source Earth observation for road resilience</vt:lpstr>
      <vt:lpstr>Why hyperspectral matters</vt:lpstr>
      <vt:lpstr>How THABAT works</vt:lpstr>
      <vt:lpstr>What THABAT produces</vt:lpstr>
      <vt:lpstr>From measurements to segment-level evidence</vt:lpstr>
      <vt:lpstr>What we can prove — and what we cannot</vt:lpstr>
      <vt:lpstr>Why THABAT matters</vt:lpstr>
      <vt:lpstr>From PoC to operational road intelligence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THABAT — AI-Powered Road Resilience</dc:title>
  <dc:subject>PptxGenJS Presentation</dc:subject>
  <dc:creator>THABAT team</dc:creator>
  <cp:lastModifiedBy>lenovo</cp:lastModifiedBy>
  <cp:revision>3</cp:revision>
  <dcterms:created xsi:type="dcterms:W3CDTF">2026-10-11T19:34:42Z</dcterms:created>
  <dcterms:modified xsi:type="dcterms:W3CDTF">2026-10-11T19:43:50Z</dcterms:modified>
</cp:coreProperties>
</file>